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6"/>
  </p:notesMasterIdLst>
  <p:sldIdLst>
    <p:sldId id="258" r:id="rId2"/>
    <p:sldId id="261" r:id="rId3"/>
    <p:sldId id="408" r:id="rId4"/>
    <p:sldId id="405" r:id="rId5"/>
    <p:sldId id="406" r:id="rId6"/>
    <p:sldId id="515" r:id="rId7"/>
    <p:sldId id="516" r:id="rId8"/>
    <p:sldId id="410" r:id="rId9"/>
    <p:sldId id="418" r:id="rId10"/>
    <p:sldId id="411" r:id="rId11"/>
    <p:sldId id="414" r:id="rId12"/>
    <p:sldId id="413" r:id="rId13"/>
    <p:sldId id="412" r:id="rId14"/>
    <p:sldId id="415" r:id="rId15"/>
    <p:sldId id="416" r:id="rId16"/>
    <p:sldId id="417" r:id="rId17"/>
    <p:sldId id="513" r:id="rId18"/>
    <p:sldId id="407" r:id="rId19"/>
    <p:sldId id="419" r:id="rId20"/>
    <p:sldId id="427" r:id="rId21"/>
    <p:sldId id="428" r:id="rId22"/>
    <p:sldId id="429" r:id="rId23"/>
    <p:sldId id="422" r:id="rId24"/>
    <p:sldId id="423" r:id="rId25"/>
    <p:sldId id="424" r:id="rId26"/>
    <p:sldId id="425" r:id="rId27"/>
    <p:sldId id="430" r:id="rId28"/>
    <p:sldId id="426" r:id="rId29"/>
    <p:sldId id="514" r:id="rId30"/>
    <p:sldId id="443" r:id="rId31"/>
    <p:sldId id="445" r:id="rId32"/>
    <p:sldId id="450" r:id="rId33"/>
    <p:sldId id="448" r:id="rId34"/>
    <p:sldId id="449" r:id="rId35"/>
    <p:sldId id="451" r:id="rId36"/>
    <p:sldId id="473" r:id="rId37"/>
    <p:sldId id="432" r:id="rId38"/>
    <p:sldId id="434" r:id="rId39"/>
    <p:sldId id="490" r:id="rId40"/>
    <p:sldId id="433" r:id="rId41"/>
    <p:sldId id="435" r:id="rId42"/>
    <p:sldId id="436" r:id="rId43"/>
    <p:sldId id="437" r:id="rId44"/>
    <p:sldId id="438" r:id="rId45"/>
    <p:sldId id="439" r:id="rId46"/>
    <p:sldId id="440" r:id="rId47"/>
    <p:sldId id="491" r:id="rId48"/>
    <p:sldId id="496" r:id="rId49"/>
    <p:sldId id="441" r:id="rId50"/>
    <p:sldId id="456" r:id="rId51"/>
    <p:sldId id="463" r:id="rId52"/>
    <p:sldId id="465" r:id="rId53"/>
    <p:sldId id="462" r:id="rId54"/>
    <p:sldId id="464" r:id="rId55"/>
    <p:sldId id="466" r:id="rId56"/>
    <p:sldId id="497" r:id="rId57"/>
    <p:sldId id="498" r:id="rId58"/>
    <p:sldId id="470" r:id="rId59"/>
    <p:sldId id="461" r:id="rId60"/>
    <p:sldId id="511" r:id="rId61"/>
    <p:sldId id="452" r:id="rId62"/>
    <p:sldId id="453" r:id="rId63"/>
    <p:sldId id="454" r:id="rId64"/>
    <p:sldId id="455" r:id="rId65"/>
    <p:sldId id="457" r:id="rId66"/>
    <p:sldId id="458" r:id="rId67"/>
    <p:sldId id="471" r:id="rId68"/>
    <p:sldId id="510" r:id="rId69"/>
    <p:sldId id="499" r:id="rId70"/>
    <p:sldId id="472" r:id="rId71"/>
    <p:sldId id="512" r:id="rId72"/>
    <p:sldId id="444" r:id="rId73"/>
    <p:sldId id="508" r:id="rId74"/>
    <p:sldId id="509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31:49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173 126 2761 0 0,'1'-4'76'0'0,"0"0"-1"0"0,-1 0 1 0 0,1 0 0 0 0,-1 0 0 0 0,0 0 0 0 0,0 0 0 0 0,0 0 0 0 0,0 0 0 0 0,-1 0 0 0 0,0 0 0 0 0,-1-6 0 0 0,-1-1 846 0 0,2 8-609 0 0,0 0 1 0 0,0 1-1 0 0,0-1 0 0 0,0 0 0 0 0,0 1 0 0 0,-1-1 1 0 0,1 1-1 0 0,-1-1 0 0 0,0 1 0 0 0,-3-3 0 0 0,3 3 66 0 0,0-1 0 0 0,0 1 0 0 0,0-1 0 0 0,0 0 0 0 0,1 0 0 0 0,-1 1-1 0 0,-1-5 1 0 0,-1 3 266 0 0,6 4-531 0 0,-24 39 3308 0 0,18-28-3425 0 0,0 0-1 0 0,1 0 1 0 0,0 0-1 0 0,1 1 1 0 0,-1 16-1 0 0,0 63-34 0 0,3-29 20 0 0,-12 151-97 0 0,7-119 88 0 0,0 76-178 0 0,-15 59 274 0 0,15-187 49 0 0,-14 53 479 0 0,13-74-520 0 0,0 1-1 0 0,2 1 1 0 0,1-1-1 0 0,0 41 1 0 0,7-26-99 0 0,2 0 0 0 0,1-1 0 0 0,2 0 0 0 0,14 35-1 0 0,-16-49 37 0 0,1 4 4 0 0,6 37 1 0 0,-12-51 25 0 0,-1 1-1 0 0,0-1 1 0 0,-1 0-1 0 0,0 1 1 0 0,-4 16-1 0 0,1-6-73 0 0,1 0-1 0 0,2 0 0 0 0,1 23 0 0 0,10 70-60 0 0,-6-81 43 0 0,21 110-41 0 0,-10-69 56 0 0,-6-10 183 0 0,4 88-1 0 0,-11-105-7 0 0,0-10 37 0 0,-4 43-1 0 0,-1 8 186 0 0,5 46-179 0 0,14 38 522 0 0,-15-154-602 0 0,18 103 348 0 0,-18-116-411 0 0,3 21 474 0 0,-4-30-638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5:52:02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59 13939 0 0,'-31'-13'4734'0'0,"2"-1"-3458"0"0,5 2-1588 0 0,-25-8-1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8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1215 3409 0 0,'3'-2'4782'0'0,"3"-2"-3390"0"0,5-14-256 0 0,0 1-1 0 0,16-20 0 0 0,-1 1-570 0 0,-6 8-70 0 0,-9 14-303 0 0,-2 0-1 0 0,1 0 1 0 0,11-26-1 0 0,-5-4 239 0 0,-2 0-1 0 0,-1-1 0 0 0,-2-1 1 0 0,6-63-1 0 0,8-125 336 0 0,-17 0-95 0 0,-16 111 9 0 0,3 59-152 0 0,5 60-448 0 0,0 0-1 0 0,0 0 1 0 0,-1 0 0 0 0,0 0 0 0 0,0 0 0 0 0,0 0-1 0 0,0 1 1 0 0,-1-1 0 0 0,1 0 0 0 0,-4-4 0 0 0,4 9-183 0 0,1 0 1 0 0,-1 0-1 0 0,0 0 1 0 0,1 0 0 0 0,-1 1-1 0 0,1-1 1 0 0,-1 0-1 0 0,1 0 1 0 0,-1 0 0 0 0,1 1-1 0 0,0-1 1 0 0,-1 3-1 0 0,-2 15-173 0 0,-9 33-1 0 0,1-8 180 0 0,10-41 97 0 0,-23 139-394 0 0,23-123 239 0 0,0 0 1 0 0,1 0-1 0 0,1 1 1 0 0,1-1-1 0 0,6 29 0 0 0,8 8-274 0 0,-14-52 415 0 0,0 1 1 0 0,0 0 0 0 0,0-1 0 0 0,1 1-1 0 0,-1-1 1 0 0,1 0 0 0 0,0 0-1 0 0,0 0 1 0 0,6 5 0 0 0,-8-8 48 0 0,0 0-1 0 0,0 0 1 0 0,1-1-1 0 0,-1 1 1 0 0,0 0 0 0 0,1 0-1 0 0,-1-1 1 0 0,0 1 0 0 0,1-1-1 0 0,-1 1 1 0 0,1-1 0 0 0,-1 0-1 0 0,1 1 1 0 0,-1-1-1 0 0,1 0 1 0 0,0 0 0 0 0,-1 0-1 0 0,1 0 1 0 0,1-1 0 0 0,0 0 26 0 0,0 0 0 0 0,0 0 0 0 0,0 0 0 0 0,0 0-1 0 0,-1-1 1 0 0,1 1 0 0 0,0-1 0 0 0,-1 0 0 0 0,4-2 0 0 0,2-5 65 0 0,1 0-1 0 0,-1 0 0 0 0,13-20 1 0 0,0-4 33 0 0,-2-1 0 0 0,21-47 0 0 0,19-81 103 0 0,-56 152-275 0 0,-1 3 68 0 0,0 0 0 0 0,0 1 0 0 0,0-1 0 0 0,0-12-1 0 0,-10 35-1101 0 0,1 59 733 0 0,2-24 370 0 0,2-3-251 0 0,5 64-1 0 0,0-84-348 0 0,2 0 1 0 0,0 0-1 0 0,15 46 1 0 0,-12-53-1530 0 0,0 1 0 0 0,2-1 1 0 0,0-1-1 0 0,1 1 0 0 0,21 30 0 0 0,-23-42 387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9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21 174 6625 0 0,'-1'-1'661'0'0,"-1"0"-1"0"0,0 0 0 0 0,1 0 0 0 0,-1 0 1 0 0,-3-2 1319 0 0,-1-3 140 0 0,6 5-1999 0 0,0 1 1 0 0,0 0 0 0 0,-1 0-1 0 0,1-1 1 0 0,0 1-1 0 0,0 0 1 0 0,0-1 0 0 0,0 1-1 0 0,0 0 1 0 0,0-1-1 0 0,0 1 1 0 0,0 0 0 0 0,0-1-1 0 0,0 1 1 0 0,0 0-1 0 0,0-1 1 0 0,0 1 0 0 0,2-4 1702 0 0,-1 3-1703 0 0,28-13-87 0 0,1 0-1 0 0,1 2 1 0 0,0 1 0 0 0,35-7-1 0 0,224-31-2489 0 0,-267 46 2007 0 0,225-24-12272 0 0,-233 26 10026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9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4073 0 0,'27'-3'6865'0'0,"15"-7"-3597"0"0,-25 5-2827 0 0,77-22-267 0 0,38-10-881 0 0,66 5-5778 0 0,-64 12 1607 0 0,-95 14 2135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9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82 275 4537 0 0,'-8'-4'397'0'0,"0"-1"-1"0"0,0 0 1 0 0,0-1-1 0 0,1 0 1 0 0,0 0-1 0 0,-7-8 1 0 0,11 11-238 0 0,1 0 0 0 0,0 0 1 0 0,0-1-1 0 0,0 1 0 0 0,0 0 0 0 0,1-1 1 0 0,-1 1-1 0 0,1-1 0 0 0,0 0 0 0 0,0 1 1 0 0,0-1-1 0 0,0 0 0 0 0,1 0 0 0 0,0 0 1 0 0,-1 1-1 0 0,1-1 0 0 0,2-7 1 0 0,-2 6-96 0 0,1-1 0 0 0,1 1 0 0 0,-1 0 0 0 0,1 0 0 0 0,0 0 0 0 0,0 1 0 0 0,1-1 0 0 0,-1 0 0 0 0,1 1 0 0 0,0-1 0 0 0,5-4 0 0 0,-2 2-44 0 0,0 2 0 0 0,0-1 0 0 0,0 1 1 0 0,1 0-1 0 0,0 0 0 0 0,11-5 1 0 0,4 0 45 0 0,0 2 1 0 0,0 0 0 0 0,1 1 0 0 0,26-4 0 0 0,-34 8-1 0 0,-1 1 0 0 0,1 1 0 0 0,0 0 1 0 0,0 0-1 0 0,0 2 0 0 0,27 3 0 0 0,-36-2-83 0 0,0-1-1 0 0,1 1 0 0 0,-1 0 0 0 0,0 1 0 0 0,0-1 1 0 0,0 1-1 0 0,10 7 0 0 0,-13-7-15 0 0,1-1-1 0 0,-1 1 1 0 0,0 0-1 0 0,0 0 1 0 0,-1 0-1 0 0,1 1 1 0 0,-1-1 0 0 0,1 1-1 0 0,-1-1 1 0 0,0 1-1 0 0,0 0 1 0 0,-1 0 0 0 0,2 5-1 0 0,-1-3-6 0 0,-1-1-1 0 0,-1 1 1 0 0,1 0 0 0 0,-1 0-1 0 0,0 0 1 0 0,-1 0 0 0 0,1 0-1 0 0,-1-1 1 0 0,0 1-1 0 0,-1 0 1 0 0,-2 8 0 0 0,0-3-1 0 0,-1 1 0 0 0,0-1 0 0 0,-1-1 1 0 0,-10 17-1 0 0,-9 5 46 0 0,-2-2-1 0 0,-32 30 1 0 0,-19 21 49 0 0,65-66-52 0 0,1 0 1 0 0,1 1 0 0 0,-16 30 0 0 0,25-42 2 0 0,0 0 1 0 0,0 1 0 0 0,0-1-1 0 0,1 1 1 0 0,0-1 0 0 0,0 1-1 0 0,0 0 1 0 0,1-1 0 0 0,-1 1-1 0 0,1 0 1 0 0,0-1 0 0 0,0 1-1 0 0,1 0 1 0 0,-1-1 0 0 0,3 6-1 0 0,-2-6 27 0 0,0 0-1 0 0,1-1 1 0 0,-1 1-1 0 0,1-1 1 0 0,0 0-1 0 0,0 1 1 0 0,1-1-1 0 0,-1 0 1 0 0,0 0-1 0 0,1 0 1 0 0,0-1-1 0 0,0 1 1 0 0,0 0 0 0 0,0-1-1 0 0,0 0 1 0 0,0 0-1 0 0,1 0 1 0 0,5 2-1 0 0,3 1 1 0 0,1-1 0 0 0,0 0 0 0 0,0-1 0 0 0,1 0 1 0 0,-1-1-1 0 0,15 0 0 0 0,84-4-481 0 0,-88 1 320 0 0,79-6-3783 0 0,154-31-1 0 0,-216 30 742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49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392 189 4473 0 0,'1'-6'809'0'0,"0"-1"1"0"0,-1 1-1 0 0,0-1 0 0 0,0 1 1 0 0,0-1-1 0 0,-1 1 0 0 0,0-1 1 0 0,-2-6-1 0 0,2 10-642 0 0,0 0-1 0 0,0 1 0 0 0,0-1 1 0 0,0 1-1 0 0,-1-1 1 0 0,1 1-1 0 0,-1-1 0 0 0,0 1 1 0 0,1 0-1 0 0,-1 0 1 0 0,0 0-1 0 0,-1 0 0 0 0,1 0 1 0 0,0 0-1 0 0,0 0 1 0 0,-1 1-1 0 0,1-1 0 0 0,-1 1 1 0 0,1 0-1 0 0,-1 0 1 0 0,-3-1-1 0 0,1 1-144 0 0,-1 0 0 0 0,1 0 0 0 0,0 0 0 0 0,-1 1 0 0 0,1 0 0 0 0,0 1 0 0 0,-1-1 0 0 0,1 1 0 0 0,0 0 1 0 0,-1 0-1 0 0,1 0 0 0 0,0 1 0 0 0,-5 2 0 0 0,-8 4-22 0 0,1 0 1 0 0,-21 14 0 0 0,23-11-32 0 0,0 0 1 0 0,0 1-1 0 0,2 0 1 0 0,-1 1-1 0 0,2 1 0 0 0,0 0 1 0 0,0 1-1 0 0,1 0 1 0 0,1 0-1 0 0,1 1 1 0 0,0 1-1 0 0,1 0 1 0 0,1 0-1 0 0,0 0 1 0 0,2 1-1 0 0,0 0 1 0 0,1 0-1 0 0,-4 31 1 0 0,8-43-11 0 0,0 0 1 0 0,0-1 0 0 0,0 1-1 0 0,0 0 1 0 0,1-1-1 0 0,0 1 1 0 0,0 0 0 0 0,1-1-1 0 0,-1 1 1 0 0,1-1 0 0 0,5 9-1 0 0,-5-11 49 0 0,0 1-1 0 0,0-1 0 0 0,0-1 0 0 0,1 1 0 0 0,-1 0 0 0 0,1 0 0 0 0,0-1 1 0 0,0 0-1 0 0,0 1 0 0 0,0-1 0 0 0,0 0 0 0 0,1-1 0 0 0,-1 1 1 0 0,0 0-1 0 0,1-1 0 0 0,-1 0 0 0 0,1 0 0 0 0,7 1 0 0 0,2 0 273 0 0,0-1-1 0 0,0-1 0 0 0,0 0 0 0 0,0-1 0 0 0,0 0 0 0 0,25-7 0 0 0,75-27 1275 0 0,-86 24-1306 0 0,-1 0 1 0 0,0-2 0 0 0,-1 0-1 0 0,-1-2 1 0 0,0-1-1 0 0,-1-1 1 0 0,26-24-1 0 0,-39 32-252 0 0,-1-1-1 0 0,0 0 0 0 0,0-1 0 0 0,-2 1 0 0 0,1-2 0 0 0,-1 1 1 0 0,-1-1-1 0 0,0 0 0 0 0,0-1 0 0 0,-2 1 0 0 0,1-1 1 0 0,-2 0-1 0 0,1 0 0 0 0,-2 0 0 0 0,0 0 0 0 0,0-1 1 0 0,-2 1-1 0 0,1-1 0 0 0,-2 1 0 0 0,0-1 0 0 0,0 1 0 0 0,-5-18 1 0 0,5 27-253 0 0,0-1 0 0 0,-1 1 1 0 0,1 0-1 0 0,-1 0 0 0 0,0 0 1 0 0,0 0-1 0 0,0 0 0 0 0,0 0 0 0 0,-1 0 1 0 0,0 1-1 0 0,0-1 0 0 0,0 1 1 0 0,0 0-1 0 0,0-1 0 0 0,-8-4 1 0 0,7 6-289 0 0,-1-1 0 0 0,0 1 1 0 0,1 0-1 0 0,-1 0 0 0 0,0 1 1 0 0,0-1-1 0 0,-1 1 1 0 0,1 0-1 0 0,0 1 0 0 0,0-1 1 0 0,0 1-1 0 0,-1 0 0 0 0,-7 1 1 0 0,-52 10-3822 0 0,27-1 894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0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1205 3793 0 0,'1'-1'125'0'0,"0"0"1"0"0,0 0-1 0 0,0 0 1 0 0,1 0-1 0 0,-1 0 1 0 0,0 0-1 0 0,0 0 1 0 0,1 0-1 0 0,-1 0 0 0 0,1 1 1 0 0,-1-1-1 0 0,0 1 1 0 0,1-1-1 0 0,2 0 1 0 0,5-2 63 0 0,44-22 413 0 0,-13 7 388 0 0,2-3 1743 0 0,76-53 0 0 0,-95 56-2188 0 0,-1-1 0 0 0,0 0 1 0 0,-2-2-1 0 0,26-31 1 0 0,-26 24-96 0 0,-2 0 0 0 0,-1-2 1 0 0,-1 0-1 0 0,-1-1 0 0 0,-2 0 1 0 0,-1-1-1 0 0,-2 0 1 0 0,-1-1-1 0 0,5-34 0 0 0,27-296 2842 0 0,-40 350-3047 0 0,0 9-115 0 0,-1 0-1 0 0,1-1 0 0 0,-1 1 1 0 0,0 0-1 0 0,0 0 0 0 0,-1 0 1 0 0,1-1-1 0 0,-1 1 0 0 0,-2-6 1 0 0,2 10-209 0 0,0 1 0 0 0,0 0 0 0 0,0 0 1 0 0,1-1-1 0 0,-1 1 0 0 0,0 0 0 0 0,0 0 0 0 0,1 0 1 0 0,-1 0-1 0 0,0 0 0 0 0,1 0 0 0 0,-1 2 0 0 0,-1 9-283 0 0,1 0-1 0 0,0-1 0 0 0,1 1 0 0 0,1 15 1 0 0,0-12 200 0 0,1 20-370 0 0,8 50 0 0 0,-8-74 306 0 0,1 1 0 0 0,0-1 0 0 0,0 1 0 0 0,2-1 0 0 0,-1 0 0 0 0,2 0 0 0 0,-1-1 0 0 0,8 11 0 0 0,-11-19 154 0 0,0 0-1 0 0,0 1 1 0 0,1-1-1 0 0,-1 0 1 0 0,1 0-1 0 0,-1 0 1 0 0,1 0-1 0 0,0 0 1 0 0,0-1-1 0 0,0 1 1 0 0,0-1-1 0 0,0 0 1 0 0,0 0-1 0 0,0 0 1 0 0,0 0-1 0 0,0-1 1 0 0,6 1-1 0 0,-3 0 43 0 0,-1-1-1 0 0,1-1 1 0 0,-1 1-1 0 0,0-1 0 0 0,1 1 1 0 0,-1-2-1 0 0,0 1 1 0 0,1 0-1 0 0,8-5 0 0 0,-1-1 123 0 0,0 0 0 0 0,-1-1 0 0 0,1-1 0 0 0,-2 0-1 0 0,1 0 1 0 0,-1-1 0 0 0,-1-1 0 0 0,0 0-1 0 0,0 0 1 0 0,-1-1 0 0 0,0 0 0 0 0,-1-1 0 0 0,-1 0-1 0 0,7-16 1 0 0,5-18 333 0 0,-2-1-1 0 0,20-89 0 0 0,-24 83-342 0 0,-12 51-87 0 0,0 0 0 0 0,0 0 0 0 0,1 0 0 0 0,-1 0 0 0 0,1 0 0 0 0,0 1 0 0 0,0-1 0 0 0,0 0 0 0 0,0 1 0 0 0,0-1 0 0 0,1 1 0 0 0,3-3 0 0 0,4-5-56 0 0,-11 11 110 0 0,1-1-1 0 0,-1 0 1 0 0,0 1 0 0 0,1-1-1 0 0,-1 0 1 0 0,1 1-1 0 0,-1-1 1 0 0,0 1-1 0 0,1-1 1 0 0,-1 0 0 0 0,1 1-1 0 0,-1 0 1 0 0,1-1-1 0 0,-1 1 1 0 0,1-1-1 0 0,0 1 1 0 0,-1-1 0 0 0,1 1-1 0 0,0 0 1 0 0,-1-1-1 0 0,1 1 1 0 0,0 0-1 0 0,0-1 1 0 0,0 1 0 0 0,-1 1-1 0 0,-2 33-167 0 0,1-1-1 0 0,4 67 1 0 0,18 69 189 0 0,-11-105-110 0 0,16 78-358 0 0,-11-71-3065 0 0,-2 1-6795 0 0,-7-43 6223 0 0,-1-16 1382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0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0 196 6169 0 0,'3'0'610'0'0,"-1"0"-1"0"0,0 0 0 0 0,0 0 0 0 0,0 1 1 0 0,0-1-1 0 0,1 1 0 0 0,-1-1 1 0 0,0 1-1 0 0,3 1 0 0 0,0 0 225 0 0,4 0-129 0 0,0 0-1 0 0,0-1 1 0 0,0 0-1 0 0,1-1 1 0 0,-1 1-1 0 0,0-2 1 0 0,18-2-1 0 0,3-3-149 0 0,31-10-1 0 0,-15 3-360 0 0,248-66-386 0 0,-211 59-72 0 0,53-14-122 0 0,-48 6-6011 0 0,-80 24 4476 0 0,6-1-4093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1 289 7546 0 0,'3'-2'930'0'0,"0"1"1"0"0,1-1 0 0 0,-1 1 0 0 0,1 0 0 0 0,-1 0-1 0 0,1 0 1 0 0,6 0 0 0 0,-1-1 196 0 0,4-1-658 0 0,-1-1-1 0 0,16-8 1 0 0,14-4-400 0 0,147-44-192 0 0,29-9-1222 0 0,91-31-12318 0 0,-272 88 11208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1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15971 0 0,'0'0'1369'0'0,"6"14"488"0"0,1 37-1590 0 0,-3 0 1 0 0,-2 0-1 0 0,-9 92 0 0 0,-49 194-96 0 0,32-215-384 0 0,-8 95-3531 0 0,27-148-2847 0 0,3 81 0 0 0,3-118 3301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5 243 10802 0 0,'-2'-12'1236'0'0,"1"0"0"0"0,0 0-1 0 0,0 0 1 0 0,3-20-1 0 0,-1 20-1209 0 0,0 1-1 0 0,2 0 0 0 0,-1-1 0 0 0,2 1 1 0 0,-1 0-1 0 0,2 1 0 0 0,-1-1 0 0 0,10-14 1 0 0,-11 21-35 0 0,-1 0 1 0 0,1 0-1 0 0,1 1 1 0 0,-1-1-1 0 0,1 1 1 0 0,-1 0-1 0 0,1 0 1 0 0,0 1-1 0 0,0-1 1 0 0,0 1-1 0 0,0 0 1 0 0,1 0-1 0 0,-1 0 1 0 0,0 0-1 0 0,1 1 1 0 0,-1 0-1 0 0,1 0 1 0 0,0 0-1 0 0,-1 0 0 0 0,1 1 1 0 0,0 0-1 0 0,9 0 1 0 0,0 1-17 0 0,-1 1 0 0 0,1 0 1 0 0,0 1-1 0 0,0 1 0 0 0,-1 0 0 0 0,19 9 0 0 0,-27-11-13 0 0,0 0 0 0 0,0 1 0 0 0,-1 0 0 0 0,1 0 0 0 0,-1 0-1 0 0,0 0 1 0 0,0 1 0 0 0,0-1 0 0 0,0 1 0 0 0,0 0 0 0 0,-1 0 0 0 0,0 1-1 0 0,0-1 1 0 0,0 1 0 0 0,0 0 0 0 0,-1-1 0 0 0,0 1 0 0 0,0 0 0 0 0,0 1-1 0 0,-1-1 1 0 0,2 6 0 0 0,-2 1-49 0 0,0-1 0 0 0,0 0 0 0 0,-1 1 0 0 0,-1-1 0 0 0,1 0 1 0 0,-2 1-1 0 0,0-1 0 0 0,0 0 0 0 0,-5 11 0 0 0,-6 15 63 0 0,-36 69-1 0 0,31-71 74 0 0,-26 70 0 0 0,43-101-50 0 0,0 0-1 0 0,0 0 0 0 0,0 0 1 0 0,1 0-1 0 0,-1 0 0 0 0,1 0 0 0 0,0 0 1 0 0,0 1-1 0 0,1-1 0 0 0,-1 0 1 0 0,2 6-1 0 0,-1-8-41 0 0,0 0 0 0 0,-1-1 0 0 0,1 1-1 0 0,0 0 1 0 0,0-1 0 0 0,0 1 0 0 0,0-1 0 0 0,0 1 0 0 0,0-1 0 0 0,1 1-1 0 0,-1-1 1 0 0,0 0 0 0 0,1 0 0 0 0,-1 0 0 0 0,1 0 0 0 0,-1 0 0 0 0,1 0-1 0 0,0 0 1 0 0,-1 0 0 0 0,1 0 0 0 0,0-1 0 0 0,0 1 0 0 0,-1-1 0 0 0,1 1-1 0 0,0-1 1 0 0,0 0 0 0 0,2 0 0 0 0,13 1-339 0 0,0-2 1 0 0,-1 0-1 0 0,1-1 1 0 0,0 0-1 0 0,-1-1 1 0 0,26-9-1 0 0,94-43-3858 0 0,-110 44 3283 0 0,11-5 95 0 0,95-44-718 0 0,-102 44 1491 0 0,-1-1 0 0 0,34-25 0 0 0,-46 29 508 0 0,-1-2 0 0 0,0 0 0 0 0,18-23-1 0 0,-25 27 819 0 0,0 0 0 0 0,-2-1 0 0 0,1 0 0 0 0,-1-1-1 0 0,-1 1 1 0 0,5-16 0 0 0,-10 24-852 0 0,1 1 0 0 0,-2 0 1 0 0,1-1-1 0 0,0 1 0 0 0,-1 0 0 0 0,1-1 0 0 0,-1 1 1 0 0,0-1-1 0 0,0 1 0 0 0,-1-1 0 0 0,1 1 1 0 0,-1 0-1 0 0,-1-7 0 0 0,1 8-236 0 0,0 1-1 0 0,0-1 1 0 0,0 0 0 0 0,0 0 0 0 0,0 1-1 0 0,-1-1 1 0 0,1 1 0 0 0,0-1 0 0 0,-1 1-1 0 0,0 0 1 0 0,1-1 0 0 0,-1 1 0 0 0,1 0-1 0 0,-1 0 1 0 0,0 0 0 0 0,0 0-1 0 0,0 1 1 0 0,0-1 0 0 0,0 0 0 0 0,0 1-1 0 0,0-1 1 0 0,0 1 0 0 0,0 0 0 0 0,-3-1-1 0 0,0 1-143 0 0,0 1-1 0 0,-1-1 1 0 0,1 1-1 0 0,0 0 1 0 0,0 0-1 0 0,0 0 0 0 0,0 1 1 0 0,0-1-1 0 0,0 1 1 0 0,0 1-1 0 0,1-1 1 0 0,-1 1-1 0 0,1-1 1 0 0,0 1-1 0 0,-5 4 1 0 0,-2 2-42 0 0,1 1 1 0 0,-1 0-1 0 0,2 1 1 0 0,-12 14 0 0 0,13-13-83 0 0,1 0 1 0 0,0 1-1 0 0,1 0 1 0 0,0 0 0 0 0,1 0-1 0 0,0 0 1 0 0,-4 25 0 0 0,6-20-99 0 0,0-1 1 0 0,2 1 0 0 0,0 0 0 0 0,1 0-1 0 0,4 32 1 0 0,-3-44 117 0 0,0 1-1 0 0,1 0 1 0 0,0 0 0 0 0,0-1 0 0 0,1 1-1 0 0,0-1 1 0 0,0 0 0 0 0,1 0-1 0 0,-1 0 1 0 0,10 11 0 0 0,-6-10 27 0 0,0 0 0 0 0,0 0 0 0 0,0-1 0 0 0,1 0 0 0 0,0 0 0 0 0,0-1 0 0 0,12 5 0 0 0,-6-3 101 0 0,1-2 0 0 0,-1 1 0 0 0,1-2 0 0 0,0 0-1 0 0,1-1 1 0 0,-1 0 0 0 0,1-1 0 0 0,-1-1 0 0 0,28-2 0 0 0,-34 1 115 0 0,-1-1 0 0 0,1-1 0 0 0,0 0 0 0 0,0 0-1 0 0,-1-1 1 0 0,1 0 0 0 0,-1 0 0 0 0,0-1 0 0 0,14-8 0 0 0,-17 9-3 0 0,-1 0-1 0 0,0-1 1 0 0,0 0 0 0 0,0 1-1 0 0,0-1 1 0 0,0-1 0 0 0,-1 1 0 0 0,0 0-1 0 0,0-1 1 0 0,0 0 0 0 0,0 0-1 0 0,-1 0 1 0 0,0 0 0 0 0,0 0-1 0 0,0 0 1 0 0,-1 0 0 0 0,2-7 0 0 0,-1-3-263 0 0,-1-1 1 0 0,-1 0 0 0 0,0 0-1 0 0,-1 0 1 0 0,-1 0-1 0 0,0 0 1 0 0,-1 0 0 0 0,-7-21-1 0 0,2 14-1844 0 0,0 1-1 0 0,-2 0 0 0 0,0 0 0 0 0,-27-39 0 0 0,10 26-2810 0 0,-4 2-2391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6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708 259 3497 0 0,'-46'-49'1272'0'0,"-94"-75"0"0"0,127 113-1285 0 0,-1 0 0 0 0,-1 1-1 0 0,0 0 1 0 0,0 1 0 0 0,-1 1-1 0 0,0 1 1 0 0,-20-7 0 0 0,32 13 68 0 0,1 0 0 0 0,-1 0 0 0 0,0 0 1 0 0,0 0-1 0 0,-1 1 0 0 0,1-1 0 0 0,0 1 1 0 0,0 0-1 0 0,-6 1 0 0 0,7 0-34 0 0,1 0 0 0 0,0-1 0 0 0,0 1 0 0 0,0 0-1 0 0,0 0 1 0 0,0 0 0 0 0,0 1 0 0 0,0-1 0 0 0,0 0 0 0 0,0 1 0 0 0,1-1 0 0 0,-1 1 0 0 0,0 0 0 0 0,1 0 0 0 0,0-1-1 0 0,-1 1 1 0 0,1 0 0 0 0,-2 3 0 0 0,-19 40 366 0 0,-31 85 0 0 0,-3 53-267 0 0,26-83-31 0 0,-67 269-168 0 0,81-289-2 0 0,4 1 0 0 0,-2 136-1 0 0,17-110-14 0 0,5 0 0 0 0,4-1 0 0 0,4 0-1 0 0,6-1 1 0 0,61 181 0 0 0,-62-233-94 0 0,2-1 0 0 0,44 73 0 0 0,76 87-690 0 0,-76-114-798 0 0,35 45-254 0 0,-72-107 33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7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6953 0 0,'0'-3'321'0'0,"0"0"0"0"0,0 0 0 0 0,0 0-1 0 0,1 1 1 0 0,-1-1 0 0 0,1 0-1 0 0,-1 0 1 0 0,1 1 0 0 0,0-1-1 0 0,2-2 1 0 0,-3 3-320 0 0,1 1 1 0 0,0 0-1 0 0,0 0 0 0 0,0 0 1 0 0,0 0-1 0 0,0 0 0 0 0,1 0 1 0 0,-1 0-1 0 0,0 1 0 0 0,0-1 1 0 0,0 0-1 0 0,1 1 0 0 0,-1-1 1 0 0,0 1-1 0 0,1-1 0 0 0,-1 1 1 0 0,1-1-1 0 0,-1 1 0 0 0,1 0 1 0 0,-1 0-1 0 0,2 0 0 0 0,17-1-64 0 0,0 1 0 0 0,0 1 0 0 0,0 1 0 0 0,0 1-1 0 0,36 10 1 0 0,93 39-375 0 0,-122-41 422 0 0,10 4 153 0 0,-2 2-1 0 0,0 2 1 0 0,-1 1 0 0 0,31 24 0 0 0,-16-6 269 0 0,79 80 1 0 0,-80-66 257 0 0,77 111 1 0 0,22 70-486 0 0,-119-188-141 0 0,95 182-145 0 0,-105-186 88 0 0,-2 1 0 0 0,-1 1 0 0 0,14 76 0 0 0,-22-80-10 0 0,-2 2 0 0 0,0 79 0 0 0,-6-98 37 0 0,-1 0-1 0 0,-1-1 0 0 0,-1 0 0 0 0,-1 1 0 0 0,-1-1 1 0 0,0-1-1 0 0,-13 26 0 0 0,6-21 15 0 0,-1-1-1 0 0,-1 0 1 0 0,-1-1 0 0 0,-1-1 0 0 0,-24 23-1 0 0,-107 92-217 0 0,130-121 61 0 0,-224 175-9819 0 0,199-160 7609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7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14 9410 0 0,'-8'-6'5955'0'0,"1"-1"-4465"0"0,6 7-1592 0 0,1 4-235 0 0,0 1-1 0 0,-1-1 1 0 0,1 0 0 0 0,-3 7-1 0 0,3-9 326 0 0,-22 107-566 0 0,-11 159 0 0 0,34 319 9 0 0,7-493 469 0 0,4 0 0 0 0,4 0 0 0 0,4-2 0 0 0,37 107 0 0 0,-39-152 31 0 0,2 0-1 0 0,1-1 1 0 0,3-1-1 0 0,1-1 0 0 0,3-2 1 0 0,1 0-1 0 0,2-2 0 0 0,2-2 1 0 0,1-1-1 0 0,2-1 0 0 0,2-2 1 0 0,1-2-1 0 0,43 28 1 0 0,-25-25-606 0 0,2-2 0 0 0,1-4 0 0 0,1-2 0 0 0,107 33 0 0 0,-89-39-796 0 0,0-4 0 0 0,1-3 0 0 0,122 6 1 0 0,-96-17-1119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6:14:5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7050 0 0,'32'36'3763'0'0,"30"30"-3092"0"0,246 227 3230 0 0,-276-259-3897 0 0,-2 1 0 0 0,-1 2 0 0 0,-2 1 1 0 0,-1 1-1 0 0,27 56 0 0 0,-36-58 7 0 0,-2 0 0 0 0,-2 0 1 0 0,-1 1-1 0 0,-2 1 0 0 0,-1 0 0 0 0,4 58 0 0 0,-9-45-20 0 0,-3 0 0 0 0,-3 1 0 0 0,-1-1 0 0 0,-15 72 0 0 0,1-48-214 0 0,-3-1-1 0 0,-41 100 0 0 0,-84 127-1579 0 0,58-155-2972 0 0,-161 205 0 0 0,136-212 1364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A04F6-3B03-4A89-9A33-EB12EDDFF68A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14A7B-7557-4C06-9B2F-B11CE98D5E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14A7B-7557-4C06-9B2F-B11CE98D5E9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21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55730-052D-4E83-A43B-D31F72E89C5B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88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FEA3-1332-0E34-0A06-E14812845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7C787-7DDD-2445-51C7-B13C4B523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F3DBB-791C-3D0B-0C4F-505AAC5C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598E2-7EB3-4099-B6D7-A030F8CED98C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7F93F-8E0D-E294-58D0-F5A00915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1874D-6C66-5AEE-03A4-A5F70730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0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A08D-203A-EF30-A4FF-64AFB444A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4FA08-D2C1-41E0-EE30-FE4D7316C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382CC-198F-F768-E87F-8C1D7269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2606-E98C-47DF-9B5B-6AC8FD30D269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99D4-A170-0A5E-B65C-4553AF0E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62CB2-76F8-7653-2DBB-BEE4D9E8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5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325D-FBBA-BABC-6AF5-AD2091467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54820-1627-50E5-EF5C-956DF3BC5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EBCD6-EF83-3845-BEBC-B77E717C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8A29-F09B-452F-854E-C23688DE9685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B0B4-0BDD-7CA8-6572-AB9E8E0A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FB0B6-6098-5E09-2126-77198DF6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1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599F-ADB0-4F07-2CB7-853D7C0B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73DB-3782-A75D-8899-9FCC617D0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FA540-DB72-A80B-04DE-638687E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C769E-0781-FF77-D647-4CCB3E9B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EE51-5CA3-40F2-80A4-44A146D4D4BB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0C860-8712-44C4-E116-BD3CE272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F85F2-8C98-4B24-D3F9-CF83E5F7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0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66BB-1B1D-9908-EEF0-34FC23EEE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3ABEF-E4CF-999A-167A-F28C5270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8D519-3A60-2551-72FE-8243D5738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3CE45-F468-0265-9145-64CCFE258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111FDA-2E9B-78F3-5D65-24106A8B7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F48232-CCAF-79E2-1BC1-893A4EF3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1B584-F6A0-4250-A3F2-83038835473A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F887B-0654-07D9-4832-86670759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917277-CDDA-52ED-D25C-5F7827A4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33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4A5BE-0190-BE11-648D-AEEB1064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9A916-31DC-55E1-8F84-B200F85A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43B7-83AF-4FDB-AA6F-32BF8DF14AED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CFC4DF-444C-38EE-C3A8-8E918C68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B3636-DD17-BDE0-3285-8702EEA0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1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E2A0F-2B6B-823A-245E-8BF3103A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B541-E24E-4B08-9D8F-6EE9A0B6E474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109AA-9541-B60D-8A51-80424654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9BADF-070E-DEEC-7C98-8FCC243F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0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4F1F-3C55-D39C-2316-FAE0156D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D41F-E404-7D3E-8233-177CF280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583AB-A096-3977-DE80-368B0AE99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F423B-91E2-88B8-08F1-691649DA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F03E2-4B1C-4308-AD8B-82DBAE6D30BA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34888-B310-0842-9E64-AF7C161C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4DAD2-88F0-2B6A-7FD2-B63510B9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8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BA1F-FDA4-A5E1-D6CC-C0C63EBD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D173A-AB46-E7BD-93BC-C0C7322CA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D22B2-6892-9C48-7621-2F2790B3B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A3F92-2CE8-B0B1-5DFE-F7693837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AF847-1151-456B-9E7B-3CD02DDED924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BD7A3-FF3D-7C4C-D3B6-61A22ED9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EBDD6-8524-3F0A-75CA-8D84697B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59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1A57-3742-9176-508B-C55735158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B91A8-3342-FB64-DBF5-80578E57F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2F2D8-76C5-B27A-BB1C-4FEDCC5E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6E05-9C0E-44BC-877F-1B6953B9ECD9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02DB5-F228-025B-1326-EC7C7D2E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4ABA-FDF3-1C00-0C7E-A9461F9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7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B3AEE-8F81-6D80-B87D-1A63B5DD6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995DA-6D32-F006-94D2-D73C0111E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FB82B-E38D-96EC-8372-B08E5C10A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C94-69DD-4C18-ADB3-3B76ADCA252C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F9DCA-E8D5-AFD2-9AED-56DC6784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7291F-B66A-BD60-4A15-9704D36F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9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B8091-CA0B-7A1A-88EC-4A3B0A70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96A9B-FB60-B497-23A2-9E3CE0350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F0840-C7FF-82BE-1199-C7C7F74FA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5D660-0D52-4E2E-8BE4-4C2B09CC85AD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99963-F94D-8F10-FF8A-54B9EADB3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AB3E-65A0-9AB8-EEA1-DADFFC149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8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8.xml"/><Relationship Id="rId18" Type="http://schemas.openxmlformats.org/officeDocument/2006/relationships/image" Target="../media/image28.png"/><Relationship Id="rId26" Type="http://schemas.openxmlformats.org/officeDocument/2006/relationships/image" Target="../media/image32.png"/><Relationship Id="rId3" Type="http://schemas.openxmlformats.org/officeDocument/2006/relationships/customXml" Target="../ink/ink3.xml"/><Relationship Id="rId21" Type="http://schemas.openxmlformats.org/officeDocument/2006/relationships/customXml" Target="../ink/ink12.xml"/><Relationship Id="rId7" Type="http://schemas.openxmlformats.org/officeDocument/2006/relationships/customXml" Target="../ink/ink5.xml"/><Relationship Id="rId12" Type="http://schemas.openxmlformats.org/officeDocument/2006/relationships/image" Target="../media/image25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2" Type="http://schemas.openxmlformats.org/officeDocument/2006/relationships/image" Target="../media/image42.pn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7.xml"/><Relationship Id="rId24" Type="http://schemas.openxmlformats.org/officeDocument/2006/relationships/image" Target="../media/image31.png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33.png"/><Relationship Id="rId10" Type="http://schemas.openxmlformats.org/officeDocument/2006/relationships/image" Target="../media/image24.png"/><Relationship Id="rId19" Type="http://schemas.openxmlformats.org/officeDocument/2006/relationships/customXml" Target="../ink/ink11.xml"/><Relationship Id="rId4" Type="http://schemas.openxmlformats.org/officeDocument/2006/relationships/image" Target="../media/image21.png"/><Relationship Id="rId9" Type="http://schemas.openxmlformats.org/officeDocument/2006/relationships/customXml" Target="../ink/ink6.xml"/><Relationship Id="rId14" Type="http://schemas.openxmlformats.org/officeDocument/2006/relationships/image" Target="../media/image26.png"/><Relationship Id="rId22" Type="http://schemas.openxmlformats.org/officeDocument/2006/relationships/image" Target="../media/image30.png"/><Relationship Id="rId27" Type="http://schemas.openxmlformats.org/officeDocument/2006/relationships/customXml" Target="../ink/ink15.xml"/><Relationship Id="rId30" Type="http://schemas.openxmlformats.org/officeDocument/2006/relationships/image" Target="../media/image3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18297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Parameter-Estimation  </a:t>
            </a:r>
            <a:br>
              <a:rPr lang="en-US" sz="5400" dirty="0"/>
            </a:br>
            <a:r>
              <a:rPr lang="en-US" sz="5400" dirty="0"/>
              <a:t>and </a:t>
            </a:r>
            <a:br>
              <a:rPr lang="en-US" sz="5400" dirty="0"/>
            </a:br>
            <a:r>
              <a:rPr lang="en-US" sz="5400" dirty="0"/>
              <a:t>Hypothesis-Testing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657600"/>
            <a:ext cx="7924800" cy="2895600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000" b="1" dirty="0"/>
              <a:t>By</a:t>
            </a:r>
          </a:p>
          <a:p>
            <a:pPr algn="ctr"/>
            <a:r>
              <a:rPr lang="en-US" sz="4000" b="1" dirty="0"/>
              <a:t>Dr. </a:t>
            </a:r>
            <a:r>
              <a:rPr lang="en-US" sz="4000" b="1" dirty="0" err="1"/>
              <a:t>Anjula</a:t>
            </a:r>
            <a:r>
              <a:rPr lang="en-US" sz="4000" b="1" dirty="0"/>
              <a:t> </a:t>
            </a:r>
            <a:r>
              <a:rPr lang="en-US" sz="4000" b="1" dirty="0" err="1"/>
              <a:t>Mehto</a:t>
            </a:r>
            <a:endParaRPr lang="en-US" sz="4000" b="1" dirty="0"/>
          </a:p>
          <a:p>
            <a:pPr algn="ctr"/>
            <a:r>
              <a:rPr lang="en-US" sz="3600" dirty="0"/>
              <a:t>Assistant Professor</a:t>
            </a:r>
          </a:p>
          <a:p>
            <a:pPr algn="ctr"/>
            <a:r>
              <a:rPr lang="en-US" sz="3600" dirty="0" err="1"/>
              <a:t>Thapar</a:t>
            </a:r>
            <a:r>
              <a:rPr lang="en-US" sz="3600" dirty="0"/>
              <a:t> Institute of Engineering and Technology, </a:t>
            </a:r>
          </a:p>
          <a:p>
            <a:pPr algn="ctr"/>
            <a:r>
              <a:rPr lang="en-US" sz="3600" dirty="0"/>
              <a:t>Patiala, Punjab</a:t>
            </a:r>
          </a:p>
          <a:p>
            <a:pPr algn="ctr"/>
            <a:r>
              <a:rPr lang="en-US" sz="3600" dirty="0"/>
              <a:t>Email-anjula.mehto@thapar.edu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219200"/>
          </a:xfrm>
        </p:spPr>
        <p:txBody>
          <a:bodyPr>
            <a:normAutofit/>
          </a:bodyPr>
          <a:lstStyle/>
          <a:p>
            <a:r>
              <a:rPr lang="en-US" sz="4800" b="1" dirty="0"/>
              <a:t>Parameter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876800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unknown?</a:t>
            </a:r>
            <a:r>
              <a:rPr lang="en-US" sz="3200" dirty="0"/>
              <a:t> → </a:t>
            </a:r>
            <a:r>
              <a:rPr lang="en-US" sz="3200" b="1" dirty="0"/>
              <a:t>Parameters</a:t>
            </a:r>
            <a:br>
              <a:rPr lang="en-US" sz="3200" dirty="0"/>
            </a:br>
            <a:r>
              <a:rPr lang="en-US" sz="3200" i="1" dirty="0"/>
              <a:t>(e.g., mean μ, variance σ², rate λ)</a:t>
            </a:r>
            <a:endParaRPr lang="en-US" sz="3200" dirty="0"/>
          </a:p>
          <a:p>
            <a:r>
              <a:rPr lang="en-US" sz="3200" b="1" dirty="0"/>
              <a:t>What do we have?</a:t>
            </a:r>
            <a:r>
              <a:rPr lang="en-US" sz="3200" dirty="0"/>
              <a:t> → </a:t>
            </a:r>
            <a:r>
              <a:rPr lang="en-US" sz="3200" b="1" dirty="0"/>
              <a:t>Sample data</a:t>
            </a:r>
            <a:br>
              <a:rPr lang="en-US" sz="3200" dirty="0"/>
            </a:br>
            <a:r>
              <a:rPr lang="en-US" sz="3200" i="1" dirty="0"/>
              <a:t>(observations collected from experiments or real-world processes)</a:t>
            </a:r>
            <a:endParaRPr lang="en-US" sz="3200" dirty="0"/>
          </a:p>
          <a:p>
            <a:r>
              <a:rPr lang="en-US" sz="3200" b="1" dirty="0"/>
              <a:t>Goal</a:t>
            </a:r>
            <a:r>
              <a:rPr lang="en-US" sz="3200" dirty="0"/>
              <a:t> → </a:t>
            </a:r>
            <a:r>
              <a:rPr lang="en-US" sz="3200" b="1" dirty="0">
                <a:highlight>
                  <a:srgbClr val="FFFF00"/>
                </a:highlight>
              </a:rPr>
              <a:t>Estimate parameters </a:t>
            </a:r>
            <a:r>
              <a:rPr lang="en-US" sz="3200" b="1" dirty="0"/>
              <a:t>from data</a:t>
            </a:r>
            <a:br>
              <a:rPr lang="en-US" sz="3200" dirty="0"/>
            </a:br>
            <a:r>
              <a:rPr lang="en-US" sz="3200" i="1" dirty="0"/>
              <a:t>(using statistical estimation techniques)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219200"/>
          </a:xfrm>
        </p:spPr>
        <p:txBody>
          <a:bodyPr>
            <a:normAutofit/>
          </a:bodyPr>
          <a:lstStyle/>
          <a:p>
            <a:r>
              <a:rPr lang="en-US" sz="4800" b="1" dirty="0"/>
              <a:t>Parameter Estimation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1054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Parameter Estimation is </a:t>
            </a:r>
            <a:r>
              <a:rPr lang="en-US" sz="3200" b="1" dirty="0"/>
              <a:t>a branch of statistics that involves using sample data to estimate the parameters of a distribution</a:t>
            </a:r>
            <a:r>
              <a:rPr lang="en-US" sz="3200" dirty="0"/>
              <a:t>.</a:t>
            </a:r>
          </a:p>
          <a:p>
            <a:pPr marL="0" indent="0" algn="ctr">
              <a:buNone/>
            </a:pPr>
            <a:r>
              <a:rPr lang="en-US" sz="3200" dirty="0"/>
              <a:t>Or</a:t>
            </a:r>
          </a:p>
          <a:p>
            <a:pPr algn="just"/>
            <a:r>
              <a:rPr lang="en-US" sz="3200" b="1" dirty="0"/>
              <a:t>Parameter estimation</a:t>
            </a:r>
            <a:r>
              <a:rPr lang="en-US" sz="3200" dirty="0"/>
              <a:t> is the process of using data to determine the values of parameters in a mathematical model or statistical distribution.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-76200"/>
            <a:ext cx="8686800" cy="1219200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Parameters of Different Distributions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0292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parameters are the numbers that yield the actual distribution.</a:t>
            </a:r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66800" y="2590800"/>
          <a:ext cx="67818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endParaRPr kumimoji="0" lang="en-US" sz="2400" b="1" i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kumimoji="0" lang="en-US" sz="24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Distribution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0" lang="en-US" sz="2400" b="1" i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kumimoji="0" lang="en-US" sz="24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Parameters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kumimoji="0"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Bernoulli(p)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 </a:t>
                      </a:r>
                      <a:r>
                        <a:rPr lang="el-GR" sz="2400" dirty="0"/>
                        <a:t>θ</a:t>
                      </a:r>
                      <a:r>
                        <a:rPr lang="en-US" sz="2400" dirty="0"/>
                        <a:t>=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kumimoji="0"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Poisson(λ)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/>
                        <a:t>θ</a:t>
                      </a:r>
                      <a:r>
                        <a:rPr lang="en-US" sz="2400" dirty="0"/>
                        <a:t>= </a:t>
                      </a:r>
                      <a:r>
                        <a:rPr kumimoji="0"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λ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kumimoji="0"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Uniform (</a:t>
                      </a:r>
                      <a:r>
                        <a:rPr kumimoji="0" lang="en-US" sz="2400" b="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a,b</a:t>
                      </a:r>
                      <a:r>
                        <a:rPr kumimoji="0"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400" dirty="0"/>
                        <a:t>θ</a:t>
                      </a:r>
                      <a:r>
                        <a:rPr lang="en-US" sz="2400" dirty="0"/>
                        <a:t>=[</a:t>
                      </a:r>
                      <a:r>
                        <a:rPr lang="en-US" sz="2400" dirty="0" err="1"/>
                        <a:t>a,b</a:t>
                      </a:r>
                      <a:r>
                        <a:rPr lang="en-US" sz="2400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lang="en-US" sz="2400" dirty="0"/>
                        <a:t>Normal (</a:t>
                      </a:r>
                      <a:r>
                        <a:rPr lang="el-GR" sz="2400" dirty="0"/>
                        <a:t>μ</a:t>
                      </a:r>
                      <a:r>
                        <a:rPr lang="en-US" sz="2400" dirty="0"/>
                        <a:t>, </a:t>
                      </a:r>
                      <a:r>
                        <a:rPr lang="el-GR" sz="2400" dirty="0"/>
                        <a:t>σ</a:t>
                      </a:r>
                      <a:r>
                        <a:rPr lang="en-US" sz="2400" dirty="0"/>
                        <a:t>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/>
                        <a:t>θ</a:t>
                      </a:r>
                      <a:r>
                        <a:rPr lang="en-US" sz="2400" dirty="0"/>
                        <a:t>=[</a:t>
                      </a:r>
                      <a:r>
                        <a:rPr lang="el-GR" sz="2400" dirty="0"/>
                        <a:t>μ</a:t>
                      </a:r>
                      <a:r>
                        <a:rPr lang="en-US" sz="2400" dirty="0"/>
                        <a:t>, </a:t>
                      </a:r>
                      <a:r>
                        <a:rPr lang="el-GR" sz="2400" dirty="0"/>
                        <a:t>σ</a:t>
                      </a:r>
                      <a:r>
                        <a:rPr lang="en-US" sz="2400" dirty="0"/>
                        <a:t>^2]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Parameter Estimations Techniques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r>
              <a:rPr lang="en-US" sz="3200" dirty="0"/>
              <a:t>Method of Moments (</a:t>
            </a:r>
            <a:r>
              <a:rPr lang="en-US" sz="3200" dirty="0" err="1"/>
              <a:t>MoM</a:t>
            </a:r>
            <a:r>
              <a:rPr lang="en-US" sz="3200" dirty="0"/>
              <a:t>)</a:t>
            </a:r>
          </a:p>
          <a:p>
            <a:r>
              <a:rPr lang="en-US" sz="3200" dirty="0"/>
              <a:t>Maximum Likelihood Estimation (MLE)</a:t>
            </a:r>
          </a:p>
          <a:p>
            <a:r>
              <a:rPr lang="en-US" sz="3200" dirty="0"/>
              <a:t>Minimum Mean Square Error (MMSE) Estimation</a:t>
            </a:r>
          </a:p>
          <a:p>
            <a:pPr>
              <a:buNone/>
            </a:pPr>
            <a:endParaRPr lang="en-US" sz="3200" dirty="0"/>
          </a:p>
          <a:p>
            <a:endParaRPr lang="en-US" dirty="0"/>
          </a:p>
          <a:p>
            <a:pPr>
              <a:buNone/>
            </a:pPr>
            <a:endParaRPr lang="en-US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6876-2E3F-517A-4BCE-7DCBCF83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Sample moments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3BB4FE-41CA-8748-BC49-F6C383F95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Calculated </a:t>
                </a:r>
                <a:r>
                  <a:rPr lang="en-IN" b="1" dirty="0"/>
                  <a:t>directly from the observed data</a:t>
                </a:r>
                <a:endParaRPr lang="en-IN" dirty="0"/>
              </a:p>
              <a:p>
                <a:r>
                  <a:rPr lang="en-IN" dirty="0"/>
                  <a:t>They are </a:t>
                </a:r>
                <a:r>
                  <a:rPr lang="en-IN" b="1" dirty="0"/>
                  <a:t>numbers we can compute</a:t>
                </a:r>
                <a:endParaRPr lang="en-IN" dirty="0"/>
              </a:p>
              <a:p>
                <a:r>
                  <a:rPr lang="en-IN" dirty="0"/>
                  <a:t>Examples:</a:t>
                </a:r>
              </a:p>
              <a:p>
                <a:r>
                  <a:rPr lang="en-IN" dirty="0"/>
                  <a:t>Sample mean: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r>
                  <a:rPr lang="en-IN" dirty="0"/>
                  <a:t>Sample second moment: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3BB4FE-41CA-8748-BC49-F6C383F95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C4615-D6B4-9680-DCE4-FDE81FA8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9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ADDC-8905-DB0E-FF24-3370348C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87EA-E673-394A-255B-AF919486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Population moments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AC79D-8172-768E-726F-72E4C0A06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Population moments</a:t>
                </a:r>
              </a:p>
              <a:p>
                <a:r>
                  <a:rPr lang="en-IN" dirty="0"/>
                  <a:t>Defined </a:t>
                </a:r>
                <a:r>
                  <a:rPr lang="en-IN" b="1" dirty="0"/>
                  <a:t>theoretically</a:t>
                </a:r>
                <a:r>
                  <a:rPr lang="en-IN" dirty="0"/>
                  <a:t> using the probability distribution</a:t>
                </a:r>
              </a:p>
              <a:p>
                <a:r>
                  <a:rPr lang="en-IN" dirty="0"/>
                  <a:t>Written </a:t>
                </a:r>
                <a:r>
                  <a:rPr lang="en-IN" b="1" dirty="0"/>
                  <a:t>in terms of unknown parameters</a:t>
                </a:r>
                <a:endParaRPr lang="en-IN" dirty="0"/>
              </a:p>
              <a:p>
                <a:r>
                  <a:rPr lang="en-IN" dirty="0"/>
                  <a:t>Examples:</a:t>
                </a:r>
              </a:p>
              <a:p>
                <a:r>
                  <a:rPr lang="en-IN" dirty="0"/>
                  <a:t>For a normal distribution:</a:t>
                </a:r>
              </a:p>
              <a:p>
                <a:pPr lvl="1"/>
                <a:r>
                  <a:rPr lang="en-IN" dirty="0"/>
                  <a:t>Population mean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Population variance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AC79D-8172-768E-726F-72E4C0A06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65106-9E90-89C2-F5F8-69084E18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9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410200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/>
              <a:t>Estimating the Moments about population  mean (µ). </a:t>
            </a:r>
          </a:p>
          <a:p>
            <a:pPr algn="just"/>
            <a:r>
              <a:rPr lang="en-US" sz="3200" dirty="0"/>
              <a:t>Involves equating the sample moments of a statistical distribution to the corresponding population moments.</a:t>
            </a:r>
          </a:p>
          <a:p>
            <a:pPr algn="just"/>
            <a:r>
              <a:rPr lang="en-US" sz="3200" dirty="0"/>
              <a:t>The sample moments are computed from the observed data, while the population moments are expressed in terms of the parameters of the distribution.</a:t>
            </a:r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410200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The basic idea of </a:t>
            </a:r>
            <a:r>
              <a:rPr lang="en-US" sz="3200" dirty="0" err="1"/>
              <a:t>MoM</a:t>
            </a:r>
            <a:r>
              <a:rPr lang="en-US" sz="3200" dirty="0"/>
              <a:t> is to estimate the parameters of the distribution by solving a set of equations that equate the sample moments to the population moments.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410200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Suppose that we take a random sample from a rectangular distribution, i.e., a uniform distribution over [a, b]. The 2 parameters are ‘a’ and ‘b’. </a:t>
            </a:r>
          </a:p>
          <a:p>
            <a:pPr algn="just"/>
            <a:r>
              <a:rPr lang="en-US" sz="3200" dirty="0"/>
              <a:t>We have to estimate these 2 parameters given a sample of size ‘n’.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10200"/>
          </a:xfrm>
        </p:spPr>
        <p:txBody>
          <a:bodyPr>
            <a:noAutofit/>
          </a:bodyPr>
          <a:lstStyle/>
          <a:p>
            <a:r>
              <a:rPr lang="en-US" sz="3200" dirty="0"/>
              <a:t>Let (𝑿_𝟏,𝑿_𝟐,…,𝑿_𝒏)be a random sample of size ‘</a:t>
            </a:r>
            <a:r>
              <a:rPr lang="en-US" sz="3200" i="1" dirty="0"/>
              <a:t>n’ taken from the variable ‘X’.</a:t>
            </a:r>
          </a:p>
          <a:p>
            <a:r>
              <a:rPr lang="en-US" sz="3200" dirty="0"/>
              <a:t>E(</a:t>
            </a:r>
            <a:r>
              <a:rPr lang="en-US" sz="3200" i="1" dirty="0"/>
              <a:t>X) = (a + b)/2 = (</a:t>
            </a:r>
            <a:r>
              <a:rPr lang="en-US" sz="3200" dirty="0"/>
              <a:t>𝒙_𝟏,+𝒙_𝟐+⋯+𝒙_𝒏</a:t>
            </a:r>
            <a:r>
              <a:rPr lang="en-US" sz="3200" i="1" dirty="0"/>
              <a:t>)/n= m (say);</a:t>
            </a:r>
          </a:p>
          <a:p>
            <a:r>
              <a:rPr lang="en-US" sz="3200" dirty="0"/>
              <a:t>This gives us   </a:t>
            </a:r>
            <a:r>
              <a:rPr lang="en-US" sz="3200" b="1" dirty="0"/>
              <a:t>a + b = 2m………….(</a:t>
            </a:r>
            <a:r>
              <a:rPr lang="en-US" sz="3200" b="1" dirty="0" err="1"/>
              <a:t>i</a:t>
            </a:r>
            <a:r>
              <a:rPr lang="en-US" sz="3200" b="1" dirty="0"/>
              <a:t>)</a:t>
            </a:r>
          </a:p>
          <a:p>
            <a:pPr lvl="1"/>
            <a:r>
              <a:rPr lang="en-US" sz="3200" b="1" dirty="0"/>
              <a:t>Var(X)=E(X^2)-(E(X))^2</a:t>
            </a:r>
          </a:p>
          <a:p>
            <a:pPr lvl="1"/>
            <a:r>
              <a:rPr lang="en-US" sz="3200" dirty="0"/>
              <a:t>E(X^2)= Var(X) + (E(X))^2</a:t>
            </a:r>
          </a:p>
          <a:p>
            <a:pPr lvl="1"/>
            <a:r>
              <a:rPr lang="en-US" sz="3200" dirty="0"/>
              <a:t>= (b-a)^2/12 + ((a + b)/2 )^2</a:t>
            </a:r>
          </a:p>
          <a:p>
            <a:pPr lvl="1"/>
            <a:r>
              <a:rPr lang="en-US" sz="3200" dirty="0"/>
              <a:t>= (a^2 + b^2 + ab)/3 </a:t>
            </a:r>
          </a:p>
          <a:p>
            <a:pPr lvl="1"/>
            <a:r>
              <a:rPr lang="en-US" sz="3200" dirty="0"/>
              <a:t>=(a^2 + b^2 + ab)/3 = p (say)</a:t>
            </a:r>
          </a:p>
          <a:p>
            <a:pPr lvl="1"/>
            <a:r>
              <a:rPr lang="en-US" sz="3200" b="1" dirty="0"/>
              <a:t>This gives us (a^2 + b^2 + ab) = 3p…………(ii</a:t>
            </a:r>
            <a:r>
              <a:rPr lang="en-US" sz="2900" b="1" dirty="0"/>
              <a:t>)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029200"/>
          </a:xfrm>
        </p:spPr>
        <p:txBody>
          <a:bodyPr>
            <a:noAutofit/>
          </a:bodyPr>
          <a:lstStyle/>
          <a:p>
            <a:r>
              <a:rPr lang="en-US" sz="3200" dirty="0"/>
              <a:t>Solving (</a:t>
            </a:r>
            <a:r>
              <a:rPr lang="en-US" sz="3200" dirty="0" err="1"/>
              <a:t>i</a:t>
            </a:r>
            <a:r>
              <a:rPr lang="en-US" sz="3200" dirty="0"/>
              <a:t>) and (ii) for a and b gives the estimates using method of moments.</a:t>
            </a:r>
          </a:p>
          <a:p>
            <a:r>
              <a:rPr lang="en-US" sz="3200" dirty="0">
                <a:highlight>
                  <a:srgbClr val="FFFF00"/>
                </a:highlight>
              </a:rPr>
              <a:t>a = m -</a:t>
            </a:r>
            <a:r>
              <a:rPr lang="en-US" sz="3200" dirty="0" err="1">
                <a:highlight>
                  <a:srgbClr val="FFFF00"/>
                </a:highlight>
              </a:rPr>
              <a:t>sqrt</a:t>
            </a:r>
            <a:r>
              <a:rPr lang="en-US" sz="3200" dirty="0">
                <a:highlight>
                  <a:srgbClr val="FFFF00"/>
                </a:highlight>
              </a:rPr>
              <a:t>(3.p -3.m.m)</a:t>
            </a:r>
          </a:p>
          <a:p>
            <a:r>
              <a:rPr lang="en-US" sz="3200" dirty="0">
                <a:highlight>
                  <a:srgbClr val="FFFF00"/>
                </a:highlight>
              </a:rPr>
              <a:t>b = 2.m –a = m + </a:t>
            </a:r>
            <a:r>
              <a:rPr lang="en-US" sz="3200" dirty="0" err="1">
                <a:highlight>
                  <a:srgbClr val="FFFF00"/>
                </a:highlight>
              </a:rPr>
              <a:t>sqrt</a:t>
            </a:r>
            <a:r>
              <a:rPr lang="en-US" sz="3200" dirty="0">
                <a:highlight>
                  <a:srgbClr val="FFFF00"/>
                </a:highlight>
              </a:rPr>
              <a:t>(3.p – 3.m.m)</a:t>
            </a:r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410200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Let (𝑋1,𝑋2,…,𝑋𝑛)be a random sample of size ‘</a:t>
            </a:r>
            <a:r>
              <a:rPr lang="en-US" sz="3200" i="1" dirty="0"/>
              <a:t>n’ taken from a Normal Population with parameters: mean𝜃1 and variance 𝜃2.</a:t>
            </a:r>
          </a:p>
          <a:p>
            <a:pPr algn="just"/>
            <a:r>
              <a:rPr lang="en-US" sz="3200" dirty="0"/>
              <a:t>Estimate these 2 parameters given a sample of size n ?</a:t>
            </a:r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66800"/>
            <a:ext cx="8915400" cy="5410200"/>
          </a:xfrm>
        </p:spPr>
        <p:txBody>
          <a:bodyPr>
            <a:noAutofit/>
          </a:bodyPr>
          <a:lstStyle/>
          <a:p>
            <a:r>
              <a:rPr lang="en-US" sz="3200" dirty="0"/>
              <a:t>For the normal distribution, the population mean and variance are given by:</a:t>
            </a:r>
          </a:p>
          <a:p>
            <a:r>
              <a:rPr lang="en-US" sz="3200" dirty="0"/>
              <a:t>μ = 𝜃1</a:t>
            </a:r>
          </a:p>
          <a:p>
            <a:r>
              <a:rPr lang="en-US" sz="3200" dirty="0"/>
              <a:t>σ^2 = 𝜃2</a:t>
            </a:r>
          </a:p>
          <a:p>
            <a:r>
              <a:rPr lang="en-US" sz="3200" dirty="0"/>
              <a:t>The sample mean and variance can be calculated from the sample:</a:t>
            </a:r>
          </a:p>
          <a:p>
            <a:r>
              <a:rPr lang="en-US" sz="3200" dirty="0"/>
              <a:t>x̄ = (x_1 + x_2 + ... + </a:t>
            </a:r>
            <a:r>
              <a:rPr lang="en-US" sz="3200" dirty="0" err="1"/>
              <a:t>x_n</a:t>
            </a:r>
            <a:r>
              <a:rPr lang="en-US" sz="3200" dirty="0"/>
              <a:t>) / n</a:t>
            </a:r>
          </a:p>
          <a:p>
            <a:r>
              <a:rPr lang="en-US" sz="3200" dirty="0"/>
              <a:t>s^2 = ((x_1 - x̄)^2 + (x_2 - x̄)^2 + ... + (</a:t>
            </a:r>
            <a:r>
              <a:rPr lang="en-US" sz="3200" dirty="0" err="1"/>
              <a:t>x_n</a:t>
            </a:r>
            <a:r>
              <a:rPr lang="en-US" sz="3200" dirty="0"/>
              <a:t> - x̄)^2) / (n - 1)</a:t>
            </a:r>
          </a:p>
          <a:p>
            <a:endParaRPr lang="en-US" sz="3200" dirty="0"/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10200"/>
          </a:xfrm>
        </p:spPr>
        <p:txBody>
          <a:bodyPr>
            <a:noAutofit/>
          </a:bodyPr>
          <a:lstStyle/>
          <a:p>
            <a:r>
              <a:rPr lang="en-US" sz="3200" dirty="0"/>
              <a:t>Setting the sample mean equal to the population mean, we get:</a:t>
            </a:r>
          </a:p>
          <a:p>
            <a:r>
              <a:rPr lang="en-US" sz="3200" dirty="0"/>
              <a:t>x̄ = 𝜃1</a:t>
            </a:r>
          </a:p>
          <a:p>
            <a:r>
              <a:rPr lang="en-US" sz="3200" dirty="0"/>
              <a:t>Solving for 𝜃1, we get:</a:t>
            </a:r>
          </a:p>
          <a:p>
            <a:r>
              <a:rPr lang="en-US" sz="3200" dirty="0"/>
              <a:t>𝜃1 = x̄</a:t>
            </a:r>
          </a:p>
          <a:p>
            <a:r>
              <a:rPr lang="en-US" sz="3200" dirty="0"/>
              <a:t>Setting the sample variance equal to the population variance, we get:</a:t>
            </a:r>
          </a:p>
          <a:p>
            <a:r>
              <a:rPr lang="en-US" sz="3200" dirty="0"/>
              <a:t>s^2 = 𝜃2</a:t>
            </a:r>
          </a:p>
          <a:p>
            <a:endParaRPr lang="en-US" sz="3200" dirty="0"/>
          </a:p>
          <a:p>
            <a:endParaRPr lang="en-US" sz="3200" dirty="0"/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10200"/>
          </a:xfrm>
        </p:spPr>
        <p:txBody>
          <a:bodyPr>
            <a:noAutofit/>
          </a:bodyPr>
          <a:lstStyle/>
          <a:p>
            <a:r>
              <a:rPr lang="en-US" sz="3200" dirty="0"/>
              <a:t>Solving for 𝜃2, we get:</a:t>
            </a:r>
          </a:p>
          <a:p>
            <a:r>
              <a:rPr lang="en-US" sz="3200" dirty="0"/>
              <a:t>𝜃2 = s^2</a:t>
            </a:r>
          </a:p>
          <a:p>
            <a:r>
              <a:rPr lang="en-US" sz="3200" dirty="0"/>
              <a:t>Therefore, the method of moments estimators for 𝜃1 and 𝜃2 are:</a:t>
            </a:r>
          </a:p>
          <a:p>
            <a:r>
              <a:rPr lang="en-US" sz="3200" dirty="0"/>
              <a:t>𝜃1 = x̄ = (x_1 + x_2 + ... + </a:t>
            </a:r>
            <a:r>
              <a:rPr lang="en-US" sz="3200" dirty="0" err="1"/>
              <a:t>x_n</a:t>
            </a:r>
            <a:r>
              <a:rPr lang="en-US" sz="3200" dirty="0"/>
              <a:t>)/𝑛 (sample mean) </a:t>
            </a:r>
          </a:p>
          <a:p>
            <a:r>
              <a:rPr lang="en-US" sz="3200" dirty="0"/>
              <a:t>𝜃2 = 𝑆^2 = ((x_1 - x̄)^2 + (x_2 - x̄)^2 + ... + (</a:t>
            </a:r>
            <a:r>
              <a:rPr lang="en-US" sz="3200" dirty="0" err="1"/>
              <a:t>x_n</a:t>
            </a:r>
            <a:r>
              <a:rPr lang="en-US" sz="3200" dirty="0"/>
              <a:t> - x̄)^2) / (n - 1) (sample variance)</a:t>
            </a:r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C6A6-0ED4-7CFA-2A40-497ACA78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F8BE89-6862-2C08-D57A-93CB733C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Method of Moments</a:t>
            </a:r>
            <a:endParaRPr lang="en-US" sz="4800" b="1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D8A72A-562A-6932-480A-A1504949E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10200"/>
          </a:xfrm>
        </p:spPr>
        <p:txBody>
          <a:bodyPr>
            <a:noAutofit/>
          </a:bodyPr>
          <a:lstStyle/>
          <a:p>
            <a:r>
              <a:rPr lang="en-US" sz="3200" b="1" dirty="0"/>
              <a:t>Method of Moments – Advantages-</a:t>
            </a:r>
            <a:endParaRPr lang="en-US" sz="3200" dirty="0"/>
          </a:p>
          <a:p>
            <a:pPr lvl="1"/>
            <a:r>
              <a:rPr lang="en-US" sz="2900" dirty="0"/>
              <a:t>Simple</a:t>
            </a:r>
          </a:p>
          <a:p>
            <a:pPr lvl="1"/>
            <a:r>
              <a:rPr lang="en-US" sz="2900" dirty="0"/>
              <a:t>Quick estimates</a:t>
            </a:r>
          </a:p>
          <a:p>
            <a:r>
              <a:rPr lang="en-US" sz="3200" b="1" dirty="0"/>
              <a:t>Limitation</a:t>
            </a:r>
          </a:p>
          <a:p>
            <a:pPr lvl="1"/>
            <a:r>
              <a:rPr lang="en-US" sz="2900" dirty="0"/>
              <a:t>Not always efficient</a:t>
            </a:r>
          </a:p>
          <a:p>
            <a:pPr algn="just"/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21347-8944-C1FE-2F77-6CF4185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0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pPr algn="just"/>
            <a:r>
              <a:rPr lang="en-US" sz="3200" dirty="0"/>
              <a:t>The maximum likelihood estimation (MLE) estimates the population parameters by finding the values that maximize the likelihood function. </a:t>
            </a:r>
          </a:p>
          <a:p>
            <a:pPr algn="just"/>
            <a:r>
              <a:rPr lang="en-US" sz="3200" dirty="0"/>
              <a:t>For a discrete distribution, maximize the PMF of the data.  </a:t>
            </a:r>
          </a:p>
          <a:p>
            <a:pPr algn="just"/>
            <a:r>
              <a:rPr lang="en-US" sz="3200" dirty="0"/>
              <a:t>For a continuous distribution, maximize the PDF of the data.  </a:t>
            </a:r>
          </a:p>
          <a:p>
            <a:endParaRPr lang="en-US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pPr algn="just"/>
            <a:r>
              <a:rPr lang="en-US" sz="3200" dirty="0"/>
              <a:t>Let us take a sample of size ‘</a:t>
            </a:r>
            <a:r>
              <a:rPr lang="en-US" sz="3200" i="1" dirty="0"/>
              <a:t>n’ from an exponential population having the parameter ‘λ’. So, ‘X’ is exponentially distributed with parameter ‘λ’.</a:t>
            </a:r>
          </a:p>
          <a:p>
            <a:endParaRPr lang="en-US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1816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Solution- </a:t>
            </a:r>
          </a:p>
          <a:p>
            <a:pPr algn="just"/>
            <a:r>
              <a:rPr lang="en-US" sz="3200" dirty="0"/>
              <a:t>A sample of size ‘</a:t>
            </a:r>
            <a:r>
              <a:rPr lang="en-US" sz="3200" i="1" dirty="0"/>
              <a:t>n’ is taken: </a:t>
            </a:r>
            <a:r>
              <a:rPr lang="en-US" sz="3000" b="1" dirty="0"/>
              <a:t>(𝑿_𝟏,𝑿_𝟐,…,𝑿_𝒏)</a:t>
            </a:r>
          </a:p>
          <a:p>
            <a:pPr algn="just"/>
            <a:r>
              <a:rPr lang="en-US" sz="3200" dirty="0"/>
              <a:t>Exponential density is: </a:t>
            </a:r>
          </a:p>
          <a:p>
            <a:pPr algn="just">
              <a:buNone/>
            </a:pPr>
            <a:r>
              <a:rPr lang="en-US" sz="3200" b="1" dirty="0"/>
              <a:t>                    𝒇(𝒙 ) =𝝀.𝒆^(−𝝀.𝒙),   𝝀&gt;𝟎,𝒙≥𝟎</a:t>
            </a:r>
          </a:p>
          <a:p>
            <a:r>
              <a:rPr lang="en-US" sz="3200" dirty="0"/>
              <a:t>The density of X_𝒊 is :</a:t>
            </a:r>
          </a:p>
          <a:p>
            <a:pPr>
              <a:buNone/>
            </a:pPr>
            <a:r>
              <a:rPr lang="en-US" sz="3200" b="1" dirty="0"/>
              <a:t>               𝝀.𝒆(−𝝀.𝒙_𝒊),     </a:t>
            </a:r>
            <a:r>
              <a:rPr lang="en-US" sz="3200" b="1" i="1" dirty="0" err="1"/>
              <a:t>i</a:t>
            </a:r>
            <a:r>
              <a:rPr lang="en-US" sz="3200" b="1" i="1" dirty="0"/>
              <a:t>=1, 2, ….n.</a:t>
            </a:r>
          </a:p>
          <a:p>
            <a:r>
              <a:rPr lang="en-US" sz="3200" dirty="0"/>
              <a:t>Joint density of (𝑿_𝟏,𝑿_𝟐,…,𝑿_𝒏)</a:t>
            </a:r>
          </a:p>
          <a:p>
            <a:r>
              <a:rPr lang="en-US" sz="3200" b="1" dirty="0"/>
              <a:t>L(x_1, x_2, …., </a:t>
            </a:r>
            <a:r>
              <a:rPr lang="en-US" sz="3200" b="1" dirty="0" err="1"/>
              <a:t>x_n</a:t>
            </a:r>
            <a:r>
              <a:rPr lang="en-US" sz="3200" b="1" dirty="0"/>
              <a:t>)=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6" name="Picture 2" descr="C:\Users\Anjula Mehto\Dropbox\PC\Downloads\lambda-crop-ce63b0ccd82313d9292339fe29af23e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6700" y="5105400"/>
            <a:ext cx="3162300" cy="685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371600"/>
            <a:ext cx="89154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Take natural logarithm.</a:t>
            </a:r>
          </a:p>
          <a:p>
            <a:r>
              <a:rPr lang="en-US" sz="3200" dirty="0" err="1"/>
              <a:t>ln</a:t>
            </a:r>
            <a:r>
              <a:rPr lang="en-US" sz="3200" dirty="0"/>
              <a:t>(L(x1, x2, …., </a:t>
            </a:r>
            <a:r>
              <a:rPr lang="en-US" sz="3200" dirty="0" err="1"/>
              <a:t>xn</a:t>
            </a:r>
            <a:r>
              <a:rPr lang="en-US" sz="3200" dirty="0"/>
              <a:t>)) = </a:t>
            </a:r>
            <a:r>
              <a:rPr lang="en-US" sz="3200" dirty="0" err="1"/>
              <a:t>ln</a:t>
            </a:r>
            <a:r>
              <a:rPr lang="en-US" sz="3200" dirty="0"/>
              <a:t>(</a:t>
            </a:r>
            <a:r>
              <a:rPr lang="el-GR" sz="3200" dirty="0"/>
              <a:t>λ^</a:t>
            </a:r>
            <a:r>
              <a:rPr lang="en-US" sz="3200" dirty="0"/>
              <a:t>n* e^((−𝝀.𝒙_𝟏) + (−𝝀.𝒙_𝟐) + ⋯ + (−𝝀.𝒙_𝒏)))</a:t>
            </a:r>
          </a:p>
          <a:p>
            <a:r>
              <a:rPr lang="en-US" sz="3200" dirty="0"/>
              <a:t>= n*</a:t>
            </a:r>
            <a:r>
              <a:rPr lang="en-US" sz="3200" dirty="0" err="1"/>
              <a:t>ln</a:t>
            </a:r>
            <a:r>
              <a:rPr lang="en-US" sz="3200" dirty="0"/>
              <a:t>(𝝀)+ ((−𝝀.𝒙_𝟏) + (−𝝀.𝒙_𝟐) +⋯ +(−𝝀.𝒙_𝒏))</a:t>
            </a:r>
          </a:p>
          <a:p>
            <a:r>
              <a:rPr lang="en-US" sz="3200" dirty="0"/>
              <a:t> = n*</a:t>
            </a:r>
            <a:r>
              <a:rPr lang="en-US" sz="3200" dirty="0" err="1"/>
              <a:t>ln</a:t>
            </a:r>
            <a:r>
              <a:rPr lang="en-US" sz="3200" dirty="0"/>
              <a:t>(𝝀)–𝝀 (𝒙_𝟏+ 𝒙_𝟐+..+𝒙_𝒏)</a:t>
            </a:r>
          </a:p>
          <a:p>
            <a:pPr algn="just"/>
            <a:r>
              <a:rPr lang="en-US" sz="3200" b="1" dirty="0"/>
              <a:t>Differentiate this equation with respect to   𝝀, and equate to zero, this will give us the estimator that is obtained using this method of maximum likelihood estimation.</a:t>
            </a:r>
          </a:p>
          <a:p>
            <a:endParaRPr lang="en-US" sz="3200" b="1" dirty="0"/>
          </a:p>
          <a:p>
            <a:pPr algn="just">
              <a:buNone/>
            </a:pPr>
            <a:endParaRPr lang="en-US"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371600"/>
            <a:ext cx="89154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Suppose </a:t>
            </a:r>
          </a:p>
          <a:p>
            <a:pPr>
              <a:buNone/>
            </a:pPr>
            <a:r>
              <a:rPr lang="en-US" sz="3200" dirty="0"/>
              <a:t>       Z= n*</a:t>
            </a:r>
            <a:r>
              <a:rPr lang="en-US" sz="3200" dirty="0" err="1"/>
              <a:t>ln</a:t>
            </a:r>
            <a:r>
              <a:rPr lang="en-US" sz="3200" dirty="0"/>
              <a:t>(𝝀)–𝝀 (𝒙_𝟏+ 𝒙_𝟐+..+𝒙_𝒏)</a:t>
            </a:r>
          </a:p>
          <a:p>
            <a:pPr>
              <a:buNone/>
            </a:pPr>
            <a:r>
              <a:rPr lang="en-US" sz="3200" dirty="0"/>
              <a:t>       </a:t>
            </a:r>
          </a:p>
          <a:p>
            <a:endParaRPr lang="en-US" sz="3200" dirty="0"/>
          </a:p>
          <a:p>
            <a:pPr>
              <a:buNone/>
            </a:pPr>
            <a:r>
              <a:rPr lang="en-US" sz="3200" dirty="0"/>
              <a:t>      n/ 𝝀 - 𝝀 (𝒙_𝟏+ 𝒙_𝟐+..+𝒙_𝒏) = 0</a:t>
            </a:r>
          </a:p>
          <a:p>
            <a:pPr>
              <a:buNone/>
            </a:pPr>
            <a:r>
              <a:rPr lang="en-US" sz="3200" dirty="0"/>
              <a:t>      Take (𝒙_𝟏+ 𝒙_𝟐+..+𝒙_𝒏) =</a:t>
            </a:r>
          </a:p>
          <a:p>
            <a:pPr>
              <a:buNone/>
            </a:pPr>
            <a:r>
              <a:rPr lang="en-US" sz="3200" dirty="0"/>
              <a:t>       𝝀=𝟏/𝒔𝒂𝒎𝒑𝒍𝒆(𝒎𝒆𝒂𝒏)</a:t>
            </a:r>
          </a:p>
          <a:p>
            <a:endParaRPr lang="en-US" sz="3200" b="1" dirty="0"/>
          </a:p>
          <a:p>
            <a:pPr algn="just">
              <a:buNone/>
            </a:pPr>
            <a:endParaRPr lang="en-US"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2050" name="Picture 2" descr="D:\Thapar\PREDICTIVE ANALYTICS USING STATISTICS\Lectures\1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667000"/>
            <a:ext cx="2057400" cy="752475"/>
          </a:xfrm>
          <a:prstGeom prst="rect">
            <a:avLst/>
          </a:prstGeom>
          <a:noFill/>
        </p:spPr>
      </p:pic>
      <p:pic>
        <p:nvPicPr>
          <p:cNvPr id="2052" name="Picture 4" descr="D:\Thapar\PREDICTIVE ANALYTICS USING STATISTICS\Lectures\1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4038600"/>
            <a:ext cx="1676400" cy="628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pPr algn="just">
              <a:buNone/>
            </a:pPr>
            <a:r>
              <a:rPr lang="en-IN" sz="3200" dirty="0"/>
              <a:t>Q.1 Assume  x_1, x_2, x_3……</a:t>
            </a:r>
            <a:r>
              <a:rPr lang="en-IN" sz="3200" dirty="0" err="1"/>
              <a:t>x_n</a:t>
            </a:r>
            <a:r>
              <a:rPr lang="en-IN" sz="3200" dirty="0"/>
              <a:t> be independent and identically distributed sample from a distribution with probability defined as:</a:t>
            </a:r>
            <a:endParaRPr lang="en-US" sz="3200" dirty="0"/>
          </a:p>
          <a:p>
            <a:pPr algn="just">
              <a:buNone/>
            </a:pPr>
            <a:r>
              <a:rPr lang="en-IN" sz="3200" dirty="0"/>
              <a:t>       </a:t>
            </a:r>
            <a:r>
              <a:rPr lang="nn-NO" sz="3200" dirty="0"/>
              <a:t>P_(x_i ) (x;θ)=(1-θ)^(x-1).θ</a:t>
            </a:r>
            <a:r>
              <a:rPr lang="en-IN" sz="3200" dirty="0"/>
              <a:t>, </a:t>
            </a:r>
          </a:p>
          <a:p>
            <a:pPr algn="just">
              <a:buNone/>
            </a:pPr>
            <a:r>
              <a:rPr lang="en-IN" sz="3200" dirty="0"/>
              <a:t>   where </a:t>
            </a:r>
            <a:r>
              <a:rPr lang="el-GR" sz="3200" dirty="0"/>
              <a:t>θ</a:t>
            </a:r>
            <a:r>
              <a:rPr lang="en-IN" sz="3200" dirty="0"/>
              <a:t> is the parameter of the distribution.</a:t>
            </a:r>
            <a:r>
              <a:rPr lang="en-US" sz="3200" dirty="0"/>
              <a:t> </a:t>
            </a:r>
            <a:r>
              <a:rPr lang="en-IN" sz="3200" dirty="0"/>
              <a:t>Find the estimator of the parameter  using Maximum Likelihood Estimation.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pPr>
              <a:buNone/>
            </a:pPr>
            <a:r>
              <a:rPr lang="en-US" sz="3200" dirty="0"/>
              <a:t>Answer- </a:t>
            </a:r>
          </a:p>
          <a:p>
            <a:pPr>
              <a:buNone/>
            </a:pPr>
            <a:r>
              <a:rPr lang="en-US" sz="3200" dirty="0"/>
              <a:t>               </a:t>
            </a:r>
            <a:r>
              <a:rPr lang="el-GR" sz="3200" b="1" dirty="0"/>
              <a:t>θ_</a:t>
            </a:r>
            <a:r>
              <a:rPr lang="en-US" sz="3200" b="1" dirty="0"/>
              <a:t>MLE = n / ∑(</a:t>
            </a:r>
            <a:r>
              <a:rPr lang="en-US" sz="3200" b="1" dirty="0" err="1"/>
              <a:t>x_i</a:t>
            </a:r>
            <a:r>
              <a:rPr lang="en-US" sz="3200" b="1" dirty="0"/>
              <a:t>)</a:t>
            </a:r>
          </a:p>
          <a:p>
            <a:pPr>
              <a:buNone/>
            </a:pPr>
            <a:r>
              <a:rPr lang="en-US" sz="3200" b="1" dirty="0"/>
              <a:t>                </a:t>
            </a:r>
            <a:r>
              <a:rPr lang="el-GR" sz="3200" b="1" dirty="0"/>
              <a:t>θ_</a:t>
            </a:r>
            <a:r>
              <a:rPr lang="en-US" sz="3200" b="1" dirty="0"/>
              <a:t>MLE = 1/mean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3340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To find the maximum likelihood estimator of the parameter θ, we need to maximize the likelihood function, which is given by:</a:t>
            </a:r>
          </a:p>
          <a:p>
            <a:r>
              <a:rPr lang="en-US" sz="3200" dirty="0"/>
              <a:t>L(x_1, x_2, ..., </a:t>
            </a:r>
            <a:r>
              <a:rPr lang="en-US" sz="3200" dirty="0" err="1"/>
              <a:t>x_n</a:t>
            </a:r>
            <a:r>
              <a:rPr lang="en-US" sz="3200" dirty="0"/>
              <a:t>) = ∏[P_(</a:t>
            </a:r>
            <a:r>
              <a:rPr lang="en-US" sz="3200" dirty="0" err="1"/>
              <a:t>X_i</a:t>
            </a:r>
            <a:r>
              <a:rPr lang="en-US" sz="3200" dirty="0"/>
              <a:t> ) (</a:t>
            </a:r>
            <a:r>
              <a:rPr lang="en-US" sz="3200" dirty="0" err="1"/>
              <a:t>x_i;θ</a:t>
            </a:r>
            <a:r>
              <a:rPr lang="en-US" sz="3200" dirty="0"/>
              <a:t>)]</a:t>
            </a:r>
          </a:p>
          <a:p>
            <a:r>
              <a:rPr lang="en-US" sz="3200" dirty="0"/>
              <a:t>where x_1, x_2, ..., </a:t>
            </a:r>
            <a:r>
              <a:rPr lang="en-US" sz="3200" dirty="0" err="1"/>
              <a:t>x_n</a:t>
            </a:r>
            <a:r>
              <a:rPr lang="en-US" sz="3200" dirty="0"/>
              <a:t> are the observed values of the random variables X_1, X_2, ..., </a:t>
            </a:r>
            <a:r>
              <a:rPr lang="en-US" sz="3200" dirty="0" err="1"/>
              <a:t>X_n</a:t>
            </a:r>
            <a:r>
              <a:rPr lang="en-US" sz="3200" dirty="0"/>
              <a:t>.</a:t>
            </a:r>
          </a:p>
          <a:p>
            <a:r>
              <a:rPr lang="en-US" sz="3200" dirty="0"/>
              <a:t>Taking the natural logarithm of the likelihood function, we get:</a:t>
            </a:r>
          </a:p>
          <a:p>
            <a:r>
              <a:rPr lang="en-US" sz="3200" dirty="0" err="1"/>
              <a:t>ln</a:t>
            </a:r>
            <a:r>
              <a:rPr lang="en-US" sz="3200" dirty="0"/>
              <a:t> L(x_1, x_2, ..., </a:t>
            </a:r>
            <a:r>
              <a:rPr lang="en-US" sz="3200" dirty="0" err="1"/>
              <a:t>x_n</a:t>
            </a:r>
            <a:r>
              <a:rPr lang="en-US" sz="3200" dirty="0"/>
              <a:t>) = ∑[</a:t>
            </a:r>
            <a:r>
              <a:rPr lang="en-US" sz="3200" dirty="0" err="1"/>
              <a:t>ln</a:t>
            </a:r>
            <a:r>
              <a:rPr lang="en-US" sz="3200" dirty="0"/>
              <a:t> P_(</a:t>
            </a:r>
            <a:r>
              <a:rPr lang="en-US" sz="3200" dirty="0" err="1"/>
              <a:t>X_i</a:t>
            </a:r>
            <a:r>
              <a:rPr lang="en-US" sz="3200" dirty="0"/>
              <a:t> )] </a:t>
            </a:r>
          </a:p>
          <a:p>
            <a:r>
              <a:rPr lang="en-US" sz="3200" dirty="0"/>
              <a:t>= </a:t>
            </a:r>
            <a:r>
              <a:rPr lang="en-US" sz="3200" dirty="0" err="1"/>
              <a:t>ln</a:t>
            </a:r>
            <a:r>
              <a:rPr lang="en-US" sz="3200" dirty="0"/>
              <a:t> </a:t>
            </a:r>
            <a:r>
              <a:rPr lang="nn-NO" sz="3200" dirty="0"/>
              <a:t>(1-θ)^</a:t>
            </a:r>
            <a:r>
              <a:rPr lang="en-US" sz="3200" dirty="0"/>
              <a:t> ∑</a:t>
            </a:r>
            <a:r>
              <a:rPr lang="nn-NO" sz="3200" dirty="0"/>
              <a:t>(x_i-n).θ^n</a:t>
            </a:r>
            <a:endParaRPr lang="en-US" sz="3200" dirty="0"/>
          </a:p>
          <a:p>
            <a:r>
              <a:rPr lang="en-US" sz="3200" dirty="0"/>
              <a:t>=( ∑(</a:t>
            </a:r>
            <a:r>
              <a:rPr lang="en-US" sz="3200" dirty="0" err="1"/>
              <a:t>x_i</a:t>
            </a:r>
            <a:r>
              <a:rPr lang="en-US" sz="3200" dirty="0"/>
              <a:t> - n)) </a:t>
            </a:r>
            <a:r>
              <a:rPr lang="en-US" sz="3200" dirty="0" err="1"/>
              <a:t>ln</a:t>
            </a:r>
            <a:r>
              <a:rPr lang="en-US" sz="3200" dirty="0"/>
              <a:t>(1 - θ) ]+ n. </a:t>
            </a:r>
            <a:r>
              <a:rPr lang="en-US" sz="3200" dirty="0" err="1"/>
              <a:t>ln</a:t>
            </a:r>
            <a:r>
              <a:rPr lang="en-US" sz="3200" dirty="0"/>
              <a:t>(θ)</a:t>
            </a:r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3340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To find the maximum of this function, we take the derivative with respect to θ and set it equal to zero:</a:t>
            </a:r>
          </a:p>
          <a:p>
            <a:r>
              <a:rPr lang="en-US" sz="3200" dirty="0"/>
              <a:t>d/</a:t>
            </a:r>
            <a:r>
              <a:rPr lang="en-US" sz="3200" dirty="0" err="1"/>
              <a:t>dθ</a:t>
            </a:r>
            <a:r>
              <a:rPr lang="en-US" sz="3200" dirty="0"/>
              <a:t> [</a:t>
            </a:r>
            <a:r>
              <a:rPr lang="en-US" sz="3200" dirty="0" err="1"/>
              <a:t>ln</a:t>
            </a:r>
            <a:r>
              <a:rPr lang="en-US" sz="3200" dirty="0"/>
              <a:t> L(x_1, x_2, ..., </a:t>
            </a:r>
            <a:r>
              <a:rPr lang="en-US" sz="3200" dirty="0" err="1"/>
              <a:t>x_n</a:t>
            </a:r>
            <a:r>
              <a:rPr lang="en-US" sz="3200" dirty="0"/>
              <a:t>)] </a:t>
            </a:r>
          </a:p>
          <a:p>
            <a:r>
              <a:rPr lang="en-US" sz="3200" dirty="0"/>
              <a:t>= d/</a:t>
            </a:r>
            <a:r>
              <a:rPr lang="en-US" sz="3200" dirty="0" err="1"/>
              <a:t>dθ</a:t>
            </a:r>
            <a:r>
              <a:rPr lang="en-US" sz="3200" dirty="0"/>
              <a:t> (∑(</a:t>
            </a:r>
            <a:r>
              <a:rPr lang="en-US" sz="3200" dirty="0" err="1"/>
              <a:t>x_i</a:t>
            </a:r>
            <a:r>
              <a:rPr lang="en-US" sz="3200" dirty="0"/>
              <a:t> - n)) </a:t>
            </a:r>
            <a:r>
              <a:rPr lang="en-US" sz="3200" dirty="0" err="1"/>
              <a:t>ln</a:t>
            </a:r>
            <a:r>
              <a:rPr lang="en-US" sz="3200" dirty="0"/>
              <a:t>(1 - θ) + n. </a:t>
            </a:r>
            <a:r>
              <a:rPr lang="en-US" sz="3200" dirty="0" err="1"/>
              <a:t>ln</a:t>
            </a:r>
            <a:r>
              <a:rPr lang="en-US" sz="3200" dirty="0"/>
              <a:t>(θ)]</a:t>
            </a:r>
          </a:p>
          <a:p>
            <a:r>
              <a:rPr lang="en-US" sz="3200" dirty="0"/>
              <a:t>= (∑(</a:t>
            </a:r>
            <a:r>
              <a:rPr lang="en-US" sz="3200" dirty="0" err="1"/>
              <a:t>x_i</a:t>
            </a:r>
            <a:r>
              <a:rPr lang="en-US" sz="3200" dirty="0"/>
              <a:t> - n))/(1 - θ).(-1) + n/θ] = 0</a:t>
            </a:r>
          </a:p>
          <a:p>
            <a:r>
              <a:rPr lang="en-US" sz="3200" dirty="0"/>
              <a:t>Simplifying this expression, we get:</a:t>
            </a:r>
          </a:p>
          <a:p>
            <a:r>
              <a:rPr lang="en-US" sz="3200" dirty="0"/>
              <a:t>(∑(</a:t>
            </a:r>
            <a:r>
              <a:rPr lang="en-US" sz="3200" dirty="0" err="1"/>
              <a:t>x_i</a:t>
            </a:r>
            <a:r>
              <a:rPr lang="en-US" sz="3200" dirty="0"/>
              <a:t> - n))/(1 - θ)] = n/θ</a:t>
            </a:r>
          </a:p>
          <a:p>
            <a:r>
              <a:rPr lang="en-US" sz="3200" dirty="0"/>
              <a:t>Solving for θ, we get the maximum likelihood estimator:</a:t>
            </a:r>
          </a:p>
          <a:p>
            <a:r>
              <a:rPr lang="en-US" sz="3200" b="1" dirty="0" err="1"/>
              <a:t>θ_MLE</a:t>
            </a:r>
            <a:r>
              <a:rPr lang="en-US" sz="3200" b="1" dirty="0"/>
              <a:t> = n / ∑(</a:t>
            </a:r>
            <a:r>
              <a:rPr lang="en-US" sz="3200" b="1" dirty="0" err="1"/>
              <a:t>x_i</a:t>
            </a:r>
            <a:r>
              <a:rPr lang="en-US" sz="3200" b="1" dirty="0"/>
              <a:t>)</a:t>
            </a:r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Maximum Likelihood (ML) Estimation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pPr algn="just">
              <a:buNone/>
            </a:pPr>
            <a:r>
              <a:rPr lang="en-US" sz="3200" dirty="0"/>
              <a:t>Assignment Question-1 </a:t>
            </a:r>
          </a:p>
          <a:p>
            <a:pPr algn="just"/>
            <a:r>
              <a:rPr lang="en-US" sz="3200" dirty="0"/>
              <a:t>Let (𝑋1,𝑋2,…,𝑋𝑛)be a random sample of size </a:t>
            </a:r>
            <a:r>
              <a:rPr lang="en-US" sz="3200" i="1" dirty="0"/>
              <a:t>n taken from a Normal Population with parameters: mean𝜃1 and variance 𝜃2. Find the Maximum Likelihood Estimates of these two parameters.</a:t>
            </a:r>
          </a:p>
          <a:p>
            <a:pPr algn="just">
              <a:buNone/>
            </a:pPr>
            <a:endParaRPr lang="en-US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3" descr="D:\Thapar\PREDICTIVE ANALYTICS USING STATISTICS\Lectures\1_lLJ-k8AoOTGgIEgTzICX6Q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4267200"/>
            <a:ext cx="502920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3200" dirty="0"/>
              <a:t>Assignment Question-2</a:t>
            </a:r>
          </a:p>
          <a:p>
            <a:pPr algn="just"/>
            <a:r>
              <a:rPr lang="en-IN" sz="3200" dirty="0"/>
              <a:t>   Let X_1, X_2 . . . ,</a:t>
            </a:r>
            <a:r>
              <a:rPr lang="en-IN" sz="3200" dirty="0" err="1"/>
              <a:t>X_n</a:t>
            </a:r>
            <a:r>
              <a:rPr lang="en-IN" sz="3200" dirty="0"/>
              <a:t> be a random sample from B(m, θ) distribution, where θ ∈Θ = (0, 1) is unknown and ‘m’ is a known positive integer. Compute value of θ using the M.L.E.</a:t>
            </a:r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B96E7-63FB-AFB0-AF05-E758E22A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938893-3F24-58D1-35E4-E59EDFCE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Maximum Likelihood Estimation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E3933E-79AF-D7D7-5FE5-F9354DC0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r>
              <a:rPr lang="en-US" sz="3200" b="1" dirty="0"/>
              <a:t>MLE – Why popular</a:t>
            </a:r>
            <a:endParaRPr lang="en-US" sz="3200" dirty="0"/>
          </a:p>
          <a:p>
            <a:pPr lvl="1"/>
            <a:r>
              <a:rPr lang="en-US" sz="2900" dirty="0"/>
              <a:t>Widely used in ML, signal processing</a:t>
            </a:r>
          </a:p>
          <a:p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B8EA3-2B2D-9B97-BF66-EC0A0A62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35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16764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Minimum Mean Square Error (MMSE) Estimation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9530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Given some information that is related to an unknown quantity of interest (say random variable X) , the problem is to obtain a good estimate for the unknown (variable X) in terms of the observed data (say random variable Y)</a:t>
            </a:r>
          </a:p>
          <a:p>
            <a:pPr algn="just"/>
            <a:r>
              <a:rPr lang="en-US" sz="3200" dirty="0"/>
              <a:t>In general, our estimate </a:t>
            </a:r>
            <a:r>
              <a:rPr lang="en-US" sz="3200" b="1" dirty="0"/>
              <a:t>x’</a:t>
            </a:r>
            <a:r>
              <a:rPr lang="en-US" sz="3200" dirty="0"/>
              <a:t> is a function of y:</a:t>
            </a:r>
          </a:p>
          <a:p>
            <a:pPr algn="just">
              <a:buNone/>
            </a:pPr>
            <a:r>
              <a:rPr lang="en-US" sz="3200" dirty="0"/>
              <a:t>                          x’=g(y)</a:t>
            </a:r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1676400"/>
          </a:xfrm>
        </p:spPr>
        <p:txBody>
          <a:bodyPr>
            <a:normAutofit/>
          </a:bodyPr>
          <a:lstStyle/>
          <a:p>
            <a:r>
              <a:rPr lang="en-US" sz="4000" b="1" dirty="0"/>
              <a:t>Minimum Mean Square Error Estimation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The error (Ẽ) in our  estimate is given by</a:t>
            </a:r>
          </a:p>
          <a:p>
            <a:pPr>
              <a:buNone/>
            </a:pPr>
            <a:r>
              <a:rPr lang="en-US" sz="3200" dirty="0"/>
              <a:t>                          Ẽ = X- x’= X-g(y)</a:t>
            </a:r>
          </a:p>
          <a:p>
            <a:pPr algn="just"/>
            <a:r>
              <a:rPr lang="en-US" sz="3200" dirty="0"/>
              <a:t>In MMSE the objective is to minimize the expected value of residual square, where residual is the difference between the true value and the estimated value. </a:t>
            </a:r>
          </a:p>
          <a:p>
            <a:pPr algn="just"/>
            <a:r>
              <a:rPr lang="en-US" sz="3200" dirty="0"/>
              <a:t>The expected residual square is also known as MSE (Mean Square Error):</a:t>
            </a:r>
          </a:p>
          <a:p>
            <a:pPr algn="ctr">
              <a:buNone/>
            </a:pPr>
            <a:r>
              <a:rPr lang="en-US" sz="3200" dirty="0"/>
              <a:t>            E[(X-x’)^2| Y=y] = E[(X-g(y))^2| Y=y]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524000"/>
          </a:xfrm>
        </p:spPr>
        <p:txBody>
          <a:bodyPr>
            <a:normAutofit/>
          </a:bodyPr>
          <a:lstStyle/>
          <a:p>
            <a:r>
              <a:rPr lang="en-US" sz="4000" b="1" dirty="0"/>
              <a:t>Procedure to Solve MMSE 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3200" dirty="0"/>
          </a:p>
          <a:p>
            <a:pPr marL="880110" lvl="1" indent="-514350" algn="just">
              <a:buFont typeface="+mj-lt"/>
              <a:buAutoNum type="arabicPeriod"/>
            </a:pPr>
            <a:r>
              <a:rPr lang="en-US" sz="3000" dirty="0"/>
              <a:t>Define the estimator</a:t>
            </a:r>
          </a:p>
          <a:p>
            <a:pPr marL="880110" lvl="1" indent="-514350" algn="just">
              <a:buFont typeface="+mj-lt"/>
              <a:buAutoNum type="arabicPeriod"/>
            </a:pPr>
            <a:r>
              <a:rPr lang="en-US" sz="3000" dirty="0"/>
              <a:t>Construct the MSE (Mean Square Error)</a:t>
            </a:r>
          </a:p>
          <a:p>
            <a:pPr marL="880110" lvl="1" indent="-514350" algn="just">
              <a:buFont typeface="+mj-lt"/>
              <a:buAutoNum type="arabicPeriod"/>
            </a:pPr>
            <a:r>
              <a:rPr lang="en-US" sz="3000" dirty="0"/>
              <a:t>Differentiate the MSE with respect to the parameter and set it to zero.</a:t>
            </a:r>
          </a:p>
          <a:p>
            <a:pPr marL="880110" lvl="1" indent="-514350" algn="just">
              <a:buFont typeface="+mj-lt"/>
              <a:buAutoNum type="arabicPeriod"/>
            </a:pPr>
            <a:r>
              <a:rPr lang="en-US" sz="3200" dirty="0"/>
              <a:t>Put the MMSE estimator in step 3 in the MSE expression to find the minimum residual square.</a:t>
            </a:r>
            <a:endParaRPr lang="en-US" sz="3000" dirty="0"/>
          </a:p>
          <a:p>
            <a:pPr>
              <a:buNone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1676400"/>
          </a:xfrm>
        </p:spPr>
        <p:txBody>
          <a:bodyPr>
            <a:normAutofit/>
          </a:bodyPr>
          <a:lstStyle/>
          <a:p>
            <a:r>
              <a:rPr lang="en-US" sz="4000" b="1" dirty="0"/>
              <a:t>Minimum Mean Square Error Estimation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For simplicity, let us first consider the case that we would like to estimate X without observing anything. </a:t>
            </a:r>
          </a:p>
          <a:p>
            <a:r>
              <a:rPr lang="en-US" sz="3200" dirty="0"/>
              <a:t>What would be our best estimate of X in that case? </a:t>
            </a:r>
          </a:p>
          <a:p>
            <a:r>
              <a:rPr lang="en-US" sz="3200" dirty="0"/>
              <a:t>Let </a:t>
            </a:r>
            <a:r>
              <a:rPr lang="en-US" sz="3200" b="1" dirty="0"/>
              <a:t>`a`</a:t>
            </a:r>
            <a:r>
              <a:rPr lang="en-US" sz="3200" dirty="0"/>
              <a:t> be our estimate of X. </a:t>
            </a:r>
            <a:r>
              <a:rPr lang="en-US" sz="3200" dirty="0">
                <a:solidFill>
                  <a:srgbClr val="FF0000"/>
                </a:solidFill>
              </a:rPr>
              <a:t>(Step-1)</a:t>
            </a:r>
          </a:p>
          <a:p>
            <a:r>
              <a:rPr lang="en-US" sz="3200" dirty="0"/>
              <a:t>Then, the MSE is given by: </a:t>
            </a:r>
            <a:r>
              <a:rPr lang="en-US" sz="3200" dirty="0">
                <a:solidFill>
                  <a:srgbClr val="FF0000"/>
                </a:solidFill>
              </a:rPr>
              <a:t>(Step-2)</a:t>
            </a:r>
          </a:p>
          <a:p>
            <a:pPr>
              <a:buNone/>
            </a:pPr>
            <a:r>
              <a:rPr lang="en-US" sz="3200" dirty="0"/>
              <a:t>                          h(a) = E[(X-a)^2]</a:t>
            </a:r>
          </a:p>
          <a:p>
            <a:pPr>
              <a:buNone/>
            </a:pPr>
            <a:r>
              <a:rPr lang="en-US" sz="3200" dirty="0"/>
              <a:t>                                  = E[X^2] + a^2 – 2.a.E[X] …Eq(1)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1676400"/>
          </a:xfrm>
        </p:spPr>
        <p:txBody>
          <a:bodyPr>
            <a:normAutofit/>
          </a:bodyPr>
          <a:lstStyle/>
          <a:p>
            <a:r>
              <a:rPr lang="en-US" sz="4000" b="1" dirty="0"/>
              <a:t>Minimum Mean Square Error Estimation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This is a quadratic function of `</a:t>
            </a:r>
            <a:r>
              <a:rPr lang="en-US" sz="3200" b="1" dirty="0"/>
              <a:t>a`</a:t>
            </a:r>
            <a:r>
              <a:rPr lang="en-US" sz="3200" dirty="0"/>
              <a:t>, and we can find the minimizing value of `</a:t>
            </a:r>
            <a:r>
              <a:rPr lang="en-US" sz="3200" b="1" dirty="0"/>
              <a:t>a`</a:t>
            </a:r>
            <a:r>
              <a:rPr lang="en-US" sz="3200" dirty="0"/>
              <a:t> by differentiation and set it to zero </a:t>
            </a:r>
            <a:r>
              <a:rPr lang="en-US" sz="3200" dirty="0">
                <a:solidFill>
                  <a:srgbClr val="FF0000"/>
                </a:solidFill>
              </a:rPr>
              <a:t>(Step-3)</a:t>
            </a:r>
          </a:p>
          <a:p>
            <a:pPr algn="just">
              <a:buNone/>
            </a:pPr>
            <a:r>
              <a:rPr lang="en-US" sz="3200" dirty="0"/>
              <a:t>                            h′(a)=−2E[X]+2a = 0</a:t>
            </a:r>
          </a:p>
          <a:p>
            <a:pPr algn="just"/>
            <a:r>
              <a:rPr lang="en-US" sz="3200" dirty="0"/>
              <a:t>Therefore, we conclude the minimizing value of `</a:t>
            </a:r>
            <a:r>
              <a:rPr lang="en-US" sz="3200" b="1" dirty="0"/>
              <a:t>a`</a:t>
            </a:r>
            <a:r>
              <a:rPr lang="en-US" sz="3200" dirty="0"/>
              <a:t> is:</a:t>
            </a:r>
          </a:p>
          <a:p>
            <a:pPr algn="just">
              <a:buNone/>
            </a:pPr>
            <a:r>
              <a:rPr lang="en-US" sz="3200" dirty="0"/>
              <a:t>                                a = E[X]</a:t>
            </a:r>
          </a:p>
          <a:p>
            <a:pPr algn="just"/>
            <a:r>
              <a:rPr lang="en-US" sz="3200" dirty="0"/>
              <a:t>Put the value of `a` in the Equation (1) </a:t>
            </a:r>
            <a:r>
              <a:rPr lang="en-US" sz="3200" dirty="0">
                <a:solidFill>
                  <a:srgbClr val="FF0000"/>
                </a:solidFill>
              </a:rPr>
              <a:t>(Step-4)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1676400"/>
          </a:xfrm>
        </p:spPr>
        <p:txBody>
          <a:bodyPr>
            <a:normAutofit/>
          </a:bodyPr>
          <a:lstStyle/>
          <a:p>
            <a:r>
              <a:rPr lang="en-US" sz="4000" b="1" dirty="0"/>
              <a:t>Minimum Mean Square Error Estimation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3200" dirty="0"/>
              <a:t>               h(a)  = E[X^2] + E[X]^2 – 2.E[X].E[X]</a:t>
            </a:r>
          </a:p>
          <a:p>
            <a:pPr algn="just">
              <a:buNone/>
            </a:pPr>
            <a:r>
              <a:rPr lang="en-US" sz="3200" dirty="0"/>
              <a:t>                         =E[X^2] + E[X]^2 -2 E[X]^2</a:t>
            </a:r>
          </a:p>
          <a:p>
            <a:pPr algn="just">
              <a:buNone/>
            </a:pPr>
            <a:r>
              <a:rPr lang="en-US" sz="3200" dirty="0"/>
              <a:t>                         = E[X^2] - E[X]^2</a:t>
            </a:r>
          </a:p>
          <a:p>
            <a:pPr algn="just">
              <a:buNone/>
            </a:pPr>
            <a:r>
              <a:rPr lang="en-US" sz="3200" dirty="0"/>
              <a:t>                         = </a:t>
            </a:r>
            <a:r>
              <a:rPr lang="en-US" sz="3200" dirty="0" err="1"/>
              <a:t>Var</a:t>
            </a:r>
            <a:r>
              <a:rPr lang="en-US" sz="3200" dirty="0"/>
              <a:t>(X)</a:t>
            </a:r>
          </a:p>
          <a:p>
            <a:pPr algn="just">
              <a:buNone/>
            </a:pPr>
            <a:endParaRPr lang="en-US" sz="3200" dirty="0"/>
          </a:p>
          <a:p>
            <a:pPr algn="just"/>
            <a:r>
              <a:rPr lang="en-US" sz="3200" b="1" dirty="0"/>
              <a:t>Interpretation: </a:t>
            </a:r>
            <a:r>
              <a:rPr lang="en-US" sz="3200" dirty="0"/>
              <a:t>The best constant estimator of X is the expected value of X. The minimum MSE using the optimal estimator is the variance of X.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E595A-C793-BD1A-3422-1D936086D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66999"/>
            <a:ext cx="7886700" cy="350996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5400" dirty="0"/>
              <a:t>Hypothesis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E4F88-EA0F-33DF-6D18-039E6C41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58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b="0" i="0" u="none" strike="noStrike" baseline="0" dirty="0"/>
              <a:t>Definition- “</a:t>
            </a:r>
            <a:r>
              <a:rPr lang="en-US" sz="3200" b="1" i="0" u="none" strike="noStrike" baseline="0" dirty="0"/>
              <a:t>A hypothesis may be simply defined as a guess. A scientific hypothesis is an intelligent guess</a:t>
            </a:r>
            <a:r>
              <a:rPr lang="en-US" sz="3200" b="0" i="0" u="none" strike="noStrike" baseline="0" dirty="0"/>
              <a:t>” </a:t>
            </a:r>
          </a:p>
          <a:p>
            <a:pPr algn="just"/>
            <a:r>
              <a:rPr lang="en-US" sz="3200" b="1" dirty="0"/>
              <a:t>A statistical hypothesis is an assumption about a population parameter. </a:t>
            </a:r>
            <a:endParaRPr lang="en-US" sz="3200" dirty="0"/>
          </a:p>
          <a:p>
            <a:pPr algn="just"/>
            <a:r>
              <a:rPr lang="en-US" sz="3200" dirty="0"/>
              <a:t>Hypothesis testing is a statistical method used to determine whether a hypothesis about a population parameter is supported by the available sample data. </a:t>
            </a:r>
          </a:p>
          <a:p>
            <a:pPr algn="just"/>
            <a:r>
              <a:rPr lang="en-US" sz="3200" b="1" dirty="0"/>
              <a:t>This assumption about the parameter may or may not be true. 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752600"/>
            <a:ext cx="8839200" cy="472440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An example of hypothesis testing is testing whether the mean weight of apples in a particular fruit garden is 100 grams.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47AB-C6CD-79DB-3F84-7C8C6D44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8C5C79-B882-9F65-3229-0618F4CC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Types of Hypothesis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B4F89D-E416-9320-FECD-D1FFC7B89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52600"/>
            <a:ext cx="8839200" cy="47244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In hypothesis testing, we set up two competing hypotheses:</a:t>
            </a:r>
          </a:p>
          <a:p>
            <a:pPr lvl="1" algn="just"/>
            <a:r>
              <a:rPr lang="en-US" sz="2900" b="1" dirty="0">
                <a:solidFill>
                  <a:prstClr val="black"/>
                </a:solidFill>
                <a:latin typeface="Calibri" panose="020F0502020204030204"/>
              </a:rPr>
              <a:t>Null Hypothesis (H₀)</a:t>
            </a:r>
            <a:r>
              <a:rPr lang="en-US" sz="2900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lvl="1" algn="just"/>
            <a:r>
              <a:rPr lang="en-US" sz="2900" b="1" dirty="0">
                <a:solidFill>
                  <a:prstClr val="black"/>
                </a:solidFill>
                <a:latin typeface="Calibri" panose="020F0502020204030204"/>
              </a:rPr>
              <a:t>Alternative Hypothesis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(H₁ or H</a:t>
            </a:r>
            <a:r>
              <a:rPr kumimoji="0" lang="en-US" sz="29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</a:t>
            </a:r>
            <a:endParaRPr lang="en-US" sz="2900" b="1" dirty="0">
              <a:solidFill>
                <a:prstClr val="black"/>
              </a:solidFill>
              <a:latin typeface="Calibri" panose="020F0502020204030204"/>
            </a:endParaRPr>
          </a:p>
          <a:p>
            <a:pPr lvl="1" algn="just"/>
            <a:endParaRPr lang="en-US" sz="2900" dirty="0"/>
          </a:p>
          <a:p>
            <a:pPr algn="just"/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1B8D8-4466-CAEF-44E6-0103BCD6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50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Null Hypothesis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Null  Hypothesis-</a:t>
            </a:r>
          </a:p>
          <a:p>
            <a:pPr algn="just"/>
            <a:r>
              <a:rPr lang="en-US" sz="3200" dirty="0"/>
              <a:t>It is a statement that there is no significant difference or relationship between two populations or variables. </a:t>
            </a:r>
          </a:p>
          <a:p>
            <a:r>
              <a:rPr lang="en-US" sz="3200" b="1" dirty="0"/>
              <a:t>The null hypothesis, denoted by 𝑯_𝟎.</a:t>
            </a:r>
          </a:p>
          <a:p>
            <a:pPr algn="just"/>
            <a:r>
              <a:rPr lang="en-US" sz="3200" dirty="0">
                <a:solidFill>
                  <a:srgbClr val="FF0000"/>
                </a:solidFill>
              </a:rPr>
              <a:t>Example- The null hypothesis is that the mean weight is 100 grams.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Alternative Hypothesis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000" dirty="0"/>
              <a:t>It is a statement that there is a significant difference or relationship between the two populations or variables.</a:t>
            </a:r>
          </a:p>
          <a:p>
            <a:pPr algn="just"/>
            <a:r>
              <a:rPr lang="en-US" sz="3000" b="1" dirty="0"/>
              <a:t>The alternative hypothesis, denoted by 𝑯_𝟏or 𝑯_𝒂.</a:t>
            </a:r>
          </a:p>
          <a:p>
            <a:pPr algn="just"/>
            <a:r>
              <a:rPr lang="en-US" sz="3000" b="1" dirty="0"/>
              <a:t>There are three types of alternative hypotheses. These are: </a:t>
            </a:r>
          </a:p>
          <a:p>
            <a:pPr marL="342900" lvl="1" indent="0" algn="just">
              <a:buNone/>
            </a:pPr>
            <a:r>
              <a:rPr lang="en-US" sz="2700" b="1" dirty="0"/>
              <a:t>(</a:t>
            </a:r>
            <a:r>
              <a:rPr lang="en-US" sz="2700" b="1" dirty="0" err="1"/>
              <a:t>i</a:t>
            </a:r>
            <a:r>
              <a:rPr lang="en-US" sz="2700" b="1" dirty="0"/>
              <a:t>) 𝑯𝟏: weight≠100 </a:t>
            </a:r>
          </a:p>
          <a:p>
            <a:pPr marL="342900" lvl="1" indent="0" algn="just">
              <a:buNone/>
            </a:pPr>
            <a:r>
              <a:rPr lang="en-US" sz="2700" b="1" dirty="0"/>
              <a:t>(ii) 𝑯𝟏:weight&gt;100 and </a:t>
            </a:r>
          </a:p>
          <a:p>
            <a:pPr marL="342900" lvl="1" indent="0" algn="just">
              <a:buNone/>
            </a:pPr>
            <a:r>
              <a:rPr lang="en-US" sz="2700" b="1" dirty="0"/>
              <a:t>(iii) 𝑯𝟏:weight&lt;100. </a:t>
            </a:r>
          </a:p>
          <a:p>
            <a:pPr algn="just"/>
            <a:r>
              <a:rPr lang="en-US" sz="3000" b="1" dirty="0"/>
              <a:t>We have to consider one of these three hypotheses in a problem.</a:t>
            </a:r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Alternative Hypothesis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Example-The alternative hypothesis is that the mean weight is not equal to 100 grams.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Decision Errors in 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two hypotheses are complementary to each other. </a:t>
            </a:r>
          </a:p>
          <a:p>
            <a:pPr algn="just"/>
            <a:r>
              <a:rPr lang="en-US" sz="3200" dirty="0"/>
              <a:t>We accept (or reject) the null hypothesis; this is equivalent to rejecting (or accepting) the alternative hypothesis. </a:t>
            </a:r>
          </a:p>
          <a:p>
            <a:pPr algn="just"/>
            <a:r>
              <a:rPr lang="en-US" sz="3200" dirty="0"/>
              <a:t>In this process, we make two types of decision errors, namely: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3200" dirty="0"/>
              <a:t>Type I error and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3200" dirty="0"/>
              <a:t>Type II error</a:t>
            </a:r>
          </a:p>
          <a:p>
            <a:pPr algn="just"/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Decision Errors in 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r>
              <a:rPr lang="en-US" sz="3200" b="1" i="1" dirty="0"/>
              <a:t>Type I Error- </a:t>
            </a:r>
            <a:endParaRPr lang="en-US" sz="3200" dirty="0"/>
          </a:p>
          <a:p>
            <a:pPr algn="just"/>
            <a:r>
              <a:rPr lang="en-US" sz="3200" dirty="0"/>
              <a:t>When we reject a null hypothesis when it is true. </a:t>
            </a:r>
          </a:p>
          <a:p>
            <a:pPr algn="just"/>
            <a:r>
              <a:rPr lang="en-US" sz="3200" dirty="0"/>
              <a:t>The probability of committing a Type I error is called the </a:t>
            </a:r>
            <a:r>
              <a:rPr lang="en-US" sz="3200" dirty="0">
                <a:solidFill>
                  <a:srgbClr val="FF0000"/>
                </a:solidFill>
              </a:rPr>
              <a:t>significance level denoted by α.</a:t>
            </a:r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Decision Errors in 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r>
              <a:rPr lang="en-US" sz="3200" b="1" i="1" dirty="0"/>
              <a:t>Type II Error- </a:t>
            </a:r>
            <a:endParaRPr lang="en-US" sz="3200" dirty="0"/>
          </a:p>
          <a:p>
            <a:pPr algn="just"/>
            <a:r>
              <a:rPr lang="en-US" sz="3200" dirty="0"/>
              <a:t>When we accept a null hypothesis when it is false. </a:t>
            </a:r>
          </a:p>
          <a:p>
            <a:pPr algn="just"/>
            <a:r>
              <a:rPr lang="en-US" sz="3200" dirty="0"/>
              <a:t>The probability of committing a Type II error is denoted by β. </a:t>
            </a:r>
          </a:p>
          <a:p>
            <a:pPr algn="just"/>
            <a:r>
              <a:rPr lang="en-US" sz="3200" dirty="0"/>
              <a:t>The probability of not committing a Type II error is called the Power of the test (1-</a:t>
            </a:r>
            <a:r>
              <a:rPr lang="el-GR" sz="3200" dirty="0"/>
              <a:t>β). </a:t>
            </a:r>
          </a:p>
          <a:p>
            <a:endParaRPr lang="en-US" sz="3200" b="1" dirty="0"/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Decision Errors in 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2D4254-01A7-3EB9-804F-F7A87E8C9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3101"/>
            <a:ext cx="6324600" cy="326554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A746-E8B7-10F5-B2CB-5D42AD3F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/>
              <a:t>Type-1 and Type-2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8073-3FC2-55CD-042F-14D1AB57A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2125266"/>
            <a:ext cx="5907597" cy="3405502"/>
          </a:xfrm>
        </p:spPr>
        <p:txBody>
          <a:bodyPr>
            <a:normAutofit/>
          </a:bodyPr>
          <a:lstStyle/>
          <a:p>
            <a:r>
              <a:rPr lang="en-US" sz="2625" u="sng" dirty="0"/>
              <a:t>Example</a:t>
            </a:r>
          </a:p>
          <a:p>
            <a:r>
              <a:rPr lang="en-US" sz="2000" dirty="0"/>
              <a:t>Suppose a teacher evaluates the examination paper to decide whether a student passes or fails</a:t>
            </a:r>
          </a:p>
          <a:p>
            <a:pPr lvl="1"/>
            <a:r>
              <a:rPr lang="en-US" sz="2000" dirty="0"/>
              <a:t>H</a:t>
            </a:r>
            <a:r>
              <a:rPr lang="en-US" sz="2000" baseline="-25000" dirty="0"/>
              <a:t>0</a:t>
            </a:r>
            <a:r>
              <a:rPr lang="en-US" sz="2000" dirty="0"/>
              <a:t> -: Student has passed</a:t>
            </a:r>
          </a:p>
          <a:p>
            <a:pPr lvl="1"/>
            <a:r>
              <a:rPr lang="en-US" sz="2000" dirty="0"/>
              <a:t>H</a:t>
            </a:r>
            <a:r>
              <a:rPr lang="en-US" sz="2000" baseline="-25000" dirty="0"/>
              <a:t>1</a:t>
            </a:r>
            <a:r>
              <a:rPr lang="en-US" sz="2000" dirty="0"/>
              <a:t> -: Student has failed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84C5A0-B28F-F682-2D1F-3E8D45204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76526"/>
            <a:ext cx="3048000" cy="18397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B0AD7BA-BBDF-1089-447E-70C1FB193A47}"/>
              </a:ext>
            </a:extLst>
          </p:cNvPr>
          <p:cNvSpPr txBox="1"/>
          <p:nvPr/>
        </p:nvSpPr>
        <p:spPr>
          <a:xfrm>
            <a:off x="592595" y="3828017"/>
            <a:ext cx="5907596" cy="194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Type-I error will be the teacher failing the student [rejects H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0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although the student scored the passing marks [H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0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was true]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Type-II error will be the case where the teacher passes the student [do not reject H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0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although the student did not score the passing marks [H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is true]</a:t>
            </a:r>
            <a:endParaRPr lang="en-IN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21691-7BA1-7430-BA6C-EB4113D6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754DB-8C14-4A50-A02C-24A30BC0C394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52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3D29-3C91-AE7E-8378-C3B32A58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78158"/>
            <a:ext cx="7886700" cy="994172"/>
          </a:xfrm>
        </p:spPr>
        <p:txBody>
          <a:bodyPr>
            <a:normAutofit/>
          </a:bodyPr>
          <a:lstStyle/>
          <a:p>
            <a:r>
              <a:rPr lang="en-US" sz="3800" b="1" dirty="0"/>
              <a:t>Factors Affecting Type I and Type II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0899F-B315-3FDB-D14C-8F466B45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73" y="2046556"/>
            <a:ext cx="3340924" cy="3263504"/>
          </a:xfrm>
        </p:spPr>
        <p:txBody>
          <a:bodyPr>
            <a:normAutofit/>
          </a:bodyPr>
          <a:lstStyle/>
          <a:p>
            <a:pPr marL="0" indent="0" algn="ctr" fontAlgn="base">
              <a:spcBef>
                <a:spcPts val="300"/>
              </a:spcBef>
              <a:spcAft>
                <a:spcPts val="1350"/>
              </a:spcAft>
              <a:buNone/>
            </a:pPr>
            <a:r>
              <a:rPr lang="en-US" sz="1500" b="1" dirty="0">
                <a:latin typeface="Nunito" pitchFamily="2" charset="77"/>
              </a:rPr>
              <a:t>Sample Size</a:t>
            </a:r>
            <a:endParaRPr lang="en-US" sz="1500" dirty="0">
              <a:latin typeface="Nunito" pitchFamily="2" charset="77"/>
            </a:endParaRPr>
          </a:p>
          <a:p>
            <a:pPr algn="just" fontAlgn="base">
              <a:spcBef>
                <a:spcPts val="300"/>
              </a:spcBef>
              <a:spcAft>
                <a:spcPts val="450"/>
              </a:spcAft>
            </a:pPr>
            <a:r>
              <a:rPr lang="en-US" sz="1500" dirty="0">
                <a:latin typeface="Nunito" pitchFamily="2" charset="77"/>
              </a:rPr>
              <a:t>Larger sample sizes generally reduce the probability of both Type I and Type II errors. </a:t>
            </a:r>
          </a:p>
          <a:p>
            <a:pPr algn="just" fontAlgn="base">
              <a:spcBef>
                <a:spcPts val="300"/>
              </a:spcBef>
              <a:spcAft>
                <a:spcPts val="450"/>
              </a:spcAft>
            </a:pPr>
            <a:r>
              <a:rPr lang="en-US" sz="1500" dirty="0">
                <a:latin typeface="Nunito" pitchFamily="2" charset="77"/>
              </a:rPr>
              <a:t>With larger samples, the estimates tend to be more precise, resulting in more accurate conclusions.</a:t>
            </a:r>
          </a:p>
        </p:txBody>
      </p:sp>
      <p:pic>
        <p:nvPicPr>
          <p:cNvPr id="1026" name="Picture 2" descr="What is a Sample Size: Examples, Formula - Omniconvert">
            <a:extLst>
              <a:ext uri="{FF2B5EF4-FFF2-40B4-BE49-F238E27FC236}">
                <a16:creationId xmlns:a16="http://schemas.microsoft.com/office/drawing/2014/main" id="{42C4A1F8-4760-5E03-A884-2934F4AAD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3" y="4414684"/>
            <a:ext cx="3195482" cy="175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8AA303-EFEF-9A66-9E63-26131BB8A06C}"/>
              </a:ext>
            </a:extLst>
          </p:cNvPr>
          <p:cNvSpPr txBox="1"/>
          <p:nvPr/>
        </p:nvSpPr>
        <p:spPr>
          <a:xfrm>
            <a:off x="3873703" y="2046556"/>
            <a:ext cx="4763745" cy="2467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fontAlgn="base">
              <a:lnSpc>
                <a:spcPct val="90000"/>
              </a:lnSpc>
              <a:spcBef>
                <a:spcPts val="750"/>
              </a:spcBef>
              <a:spcAft>
                <a:spcPts val="450"/>
              </a:spcAft>
              <a:defRPr/>
            </a:pPr>
            <a:r>
              <a:rPr lang="en-US" sz="1500" b="1" dirty="0">
                <a:solidFill>
                  <a:prstClr val="black"/>
                </a:solidFill>
                <a:latin typeface="Nunito" pitchFamily="2" charset="77"/>
              </a:rPr>
              <a:t>Significance Level (</a:t>
            </a:r>
            <a:r>
              <a:rPr lang="el-GR" sz="1500" b="1" dirty="0">
                <a:solidFill>
                  <a:prstClr val="black"/>
                </a:solidFill>
                <a:latin typeface="Nunito" pitchFamily="2" charset="77"/>
              </a:rPr>
              <a:t>α</a:t>
            </a:r>
            <a:r>
              <a:rPr lang="en-US" sz="1500" b="1" dirty="0">
                <a:solidFill>
                  <a:prstClr val="black"/>
                </a:solidFill>
                <a:latin typeface="Nunito" pitchFamily="2" charset="77"/>
              </a:rPr>
              <a:t>)</a:t>
            </a:r>
          </a:p>
          <a:p>
            <a:pPr marL="171450" indent="-171450" algn="just" defTabSz="685800" fontAlgn="base">
              <a:lnSpc>
                <a:spcPct val="90000"/>
              </a:lnSpc>
              <a:spcBef>
                <a:spcPts val="7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Nunito" pitchFamily="2" charset="77"/>
              </a:rPr>
              <a:t>The significance level (</a:t>
            </a:r>
            <a:r>
              <a:rPr lang="el-GR" sz="1500" dirty="0">
                <a:solidFill>
                  <a:prstClr val="black"/>
                </a:solidFill>
                <a:latin typeface="Nunito" pitchFamily="2" charset="77"/>
              </a:rPr>
              <a:t>α) </a:t>
            </a:r>
            <a:r>
              <a:rPr lang="en-US" sz="1500" dirty="0">
                <a:solidFill>
                  <a:prstClr val="black"/>
                </a:solidFill>
                <a:latin typeface="Nunito" pitchFamily="2" charset="77"/>
              </a:rPr>
              <a:t>in hypothesis testing determines the probability of committing a Type I error. </a:t>
            </a:r>
          </a:p>
          <a:p>
            <a:pPr marL="171450" indent="-171450" algn="just" defTabSz="685800" fontAlgn="base">
              <a:lnSpc>
                <a:spcPct val="90000"/>
              </a:lnSpc>
              <a:spcBef>
                <a:spcPts val="7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Nunito" pitchFamily="2" charset="77"/>
              </a:rPr>
              <a:t>Choosing a lower significance level reduces the risk of Type I error but increases the risk of Type II error, and vice versa.</a:t>
            </a:r>
          </a:p>
          <a:p>
            <a:pPr marL="171450" indent="-171450" algn="just" defTabSz="685800" fontAlgn="base">
              <a:lnSpc>
                <a:spcPct val="90000"/>
              </a:lnSpc>
              <a:spcBef>
                <a:spcPts val="7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  <a:latin typeface="Nunito" pitchFamily="2" charset="77"/>
              </a:rPr>
              <a:t>Most commonly used alpha values are 0.01, 0.05 and 0.1 </a:t>
            </a:r>
          </a:p>
        </p:txBody>
      </p:sp>
      <p:pic>
        <p:nvPicPr>
          <p:cNvPr id="1028" name="Picture 4" descr="An Easy-To-Understand Summary Of Significance Level">
            <a:extLst>
              <a:ext uri="{FF2B5EF4-FFF2-40B4-BE49-F238E27FC236}">
                <a16:creationId xmlns:a16="http://schemas.microsoft.com/office/drawing/2014/main" id="{76B3F351-07B0-2F18-7106-DF393BC63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914" y="4648200"/>
            <a:ext cx="3034729" cy="177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C1DC4-C811-4532-AA86-3BFDCECC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754DB-8C14-4A50-A02C-24A30BC0C394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19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C274-0E48-2E2A-5C4E-00201A6D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/>
              <a:t>Level of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BF25-A070-0F3E-2152-D56370147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8197298" cy="3263504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US" dirty="0"/>
              <a:t>The alpha value is a criterion for determining whether a test statistic is statistically significant</a:t>
            </a:r>
          </a:p>
          <a:p>
            <a:pPr>
              <a:spcAft>
                <a:spcPts val="900"/>
              </a:spcAft>
            </a:pPr>
            <a:r>
              <a:rPr lang="en-US" dirty="0"/>
              <a:t>In a statistical test, Alpha represents an acceptable probability of a Type I error. </a:t>
            </a:r>
          </a:p>
          <a:p>
            <a:pPr>
              <a:spcAft>
                <a:spcPts val="900"/>
              </a:spcAft>
            </a:pPr>
            <a:r>
              <a:rPr lang="en-US" dirty="0"/>
              <a:t>Because alpha is a probability, it can be anywhere between 0 and 1</a:t>
            </a:r>
          </a:p>
          <a:p>
            <a:pPr algn="just">
              <a:spcAft>
                <a:spcPts val="900"/>
              </a:spcAft>
            </a:pPr>
            <a:r>
              <a:rPr lang="en-US" dirty="0"/>
              <a:t>In practice, the most commonly used alpha values are 0.01, 0.05 and 0.1 which represent a 1%, 5% and 10% chance of a Type I error, respectively (i.e. rejecting the null hypothesis when it is in fact correct)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DFDB7-9675-132D-0F04-694C4EF1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754DB-8C14-4A50-A02C-24A30BC0C394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62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257800"/>
          </a:xfrm>
        </p:spPr>
        <p:txBody>
          <a:bodyPr>
            <a:normAutofit/>
          </a:bodyPr>
          <a:lstStyle/>
          <a:p>
            <a:r>
              <a:rPr lang="en-US" sz="3200" b="1" i="1" dirty="0"/>
              <a:t>One-Tailed Test</a:t>
            </a:r>
            <a:endParaRPr lang="en-US" sz="3200" dirty="0"/>
          </a:p>
          <a:p>
            <a:pPr algn="just"/>
            <a:r>
              <a:rPr lang="en-US" sz="3200" dirty="0"/>
              <a:t>A test of hypothesis, in which the region of rejection is only on one side of the distribution used for test statistic, is called a one-tailed test.</a:t>
            </a:r>
          </a:p>
          <a:p>
            <a:pPr algn="just">
              <a:buNone/>
            </a:pPr>
            <a:endParaRPr lang="en-US" sz="3200" b="1" i="1" dirty="0"/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6146" name="Picture 2" descr="C:\Users\Anjula Mehto\Dropbox\PC\Downloads\on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733800"/>
            <a:ext cx="6324600" cy="26019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One-Tailed Test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For example, if we hypothesize that population mean is 12, i.e., null hypothesis is µ = 12.</a:t>
            </a:r>
          </a:p>
          <a:p>
            <a:pPr algn="just"/>
            <a:r>
              <a:rPr lang="en-US" sz="3200" dirty="0"/>
              <a:t>We consider that the alternative hypothesis is; mean is less than 12, and then we have to employ a one-tailed test. </a:t>
            </a:r>
          </a:p>
          <a:p>
            <a:pPr algn="just"/>
            <a:r>
              <a:rPr lang="en-US" sz="3200" dirty="0">
                <a:solidFill>
                  <a:srgbClr val="FF0000"/>
                </a:solidFill>
              </a:rPr>
              <a:t>In this situation, alternative hypothesis shall be     µ &lt; 12. </a:t>
            </a:r>
          </a:p>
          <a:p>
            <a:pPr algn="just"/>
            <a:r>
              <a:rPr lang="en-US" sz="3200" dirty="0">
                <a:solidFill>
                  <a:srgbClr val="FF0000"/>
                </a:solidFill>
              </a:rPr>
              <a:t>One can see that in some other situation, we may have to consider that µ &gt; 12.</a:t>
            </a:r>
          </a:p>
          <a:p>
            <a:pPr algn="just"/>
            <a:endParaRPr lang="en-US" sz="3200" dirty="0"/>
          </a:p>
          <a:p>
            <a:endParaRPr lang="en-US" sz="3200" b="1" i="1" dirty="0"/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One-Tailed Test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If the sample being tested falls into the one-sided critical area, the alternative hypothesis will be accepted instead of the null hypothesis.</a:t>
            </a:r>
          </a:p>
          <a:p>
            <a:pPr algn="just"/>
            <a:endParaRPr lang="en-US" sz="3200" dirty="0"/>
          </a:p>
          <a:p>
            <a:endParaRPr lang="en-US" sz="3200" b="1" i="1" dirty="0"/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7170" name="Picture 2" descr="C:\Users\Anjula Mehto\Dropbox\PC\Downloads\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895600"/>
            <a:ext cx="5562600" cy="3419475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15515A-508A-C17E-0654-3301FEDF7C14}"/>
                  </a:ext>
                </a:extLst>
              </p14:cNvPr>
              <p14:cNvContentPartPr/>
              <p14:nvPr/>
            </p14:nvContentPartPr>
            <p14:xfrm>
              <a:off x="4066592" y="3663595"/>
              <a:ext cx="75600" cy="1132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15515A-508A-C17E-0654-3301FEDF7C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8952" y="3645955"/>
                <a:ext cx="111240" cy="116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r>
              <a:rPr lang="en-US" sz="3200" b="1" i="1" dirty="0"/>
              <a:t>Two-Tailed Test</a:t>
            </a:r>
          </a:p>
          <a:p>
            <a:pPr algn="just"/>
            <a:r>
              <a:rPr lang="en-US" sz="3200" dirty="0"/>
              <a:t>A test of hypothesis, in which the region of rejection is on both sides of the distribution used for test statistic, is called a two-tailed test. </a:t>
            </a:r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8194" name="Picture 2" descr="C:\Users\Anjula Mehto\Dropbox\PC\Downloads\tw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810000"/>
            <a:ext cx="4419600" cy="25638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Two-Tailed Test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For example, if we hypothesize that population mean is 12, i.e., null hypothesis is µ = 12.</a:t>
            </a:r>
          </a:p>
          <a:p>
            <a:pPr algn="just"/>
            <a:r>
              <a:rPr lang="en-US" sz="3200" dirty="0"/>
              <a:t>We consider that the alternative hypothesis is; mean is less than 12 or mean is greater than 12, then we have to employ a two-tailed test.</a:t>
            </a:r>
          </a:p>
          <a:p>
            <a:pPr algn="just"/>
            <a:r>
              <a:rPr lang="en-US" sz="3200" dirty="0"/>
              <a:t> In such a situation, alternative hypothesis shall be µ ≠ 12.</a:t>
            </a:r>
          </a:p>
          <a:p>
            <a:pPr>
              <a:buNone/>
            </a:pP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Two-Tailed Test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If the sample being tested falls into the two-sided critical area, the alternative hypothesis will be accepted instead of the null hypothesis. </a:t>
            </a:r>
            <a:endParaRPr lang="en-US" sz="3200" b="1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9218" name="Picture 2" descr="C:\Users\Anjula Mehto\Dropbox\PC\Downloads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581400"/>
            <a:ext cx="4953000" cy="2438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D39E7-9C43-71E3-2A1B-F8CD58FDF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911721-9F20-0CB7-9232-341BFF6DE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93" y="385328"/>
            <a:ext cx="7022981" cy="869156"/>
          </a:xfrm>
        </p:spPr>
        <p:txBody>
          <a:bodyPr>
            <a:normAutofit/>
          </a:bodyPr>
          <a:lstStyle/>
          <a:p>
            <a:r>
              <a:rPr lang="en-US" sz="3800" b="1" dirty="0"/>
              <a:t>Steps in Hypothesis Testing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97A67D-5AAF-E90E-D6EA-5368426D5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37" y="1905000"/>
            <a:ext cx="8328265" cy="3719513"/>
          </a:xfrm>
        </p:spPr>
        <p:txBody>
          <a:bodyPr>
            <a:normAutofit/>
          </a:bodyPr>
          <a:lstStyle/>
          <a:p>
            <a:pPr marL="385763" indent="-385763" algn="just">
              <a:spcAft>
                <a:spcPts val="900"/>
              </a:spcAft>
              <a:buFont typeface="+mj-lt"/>
              <a:buAutoNum type="arabicPeriod"/>
            </a:pPr>
            <a:r>
              <a:rPr lang="en-US" sz="2500" dirty="0"/>
              <a:t>Set up a Hypothesis- State the null and alternative hypotheses.</a:t>
            </a:r>
          </a:p>
          <a:p>
            <a:pPr marL="385763" indent="-385763" algn="just">
              <a:spcAft>
                <a:spcPts val="900"/>
              </a:spcAft>
              <a:buFont typeface="+mj-lt"/>
              <a:buAutoNum type="arabicPeriod"/>
            </a:pPr>
            <a:r>
              <a:rPr lang="en-US" sz="2500" dirty="0"/>
              <a:t>Setup the level of significance- </a:t>
            </a:r>
            <a:r>
              <a:rPr lang="en-US" sz="2500" b="1" dirty="0"/>
              <a:t>Significance level is the probability of occurrence of wrong decision. </a:t>
            </a:r>
            <a:r>
              <a:rPr lang="en-US" sz="2500" b="1" dirty="0">
                <a:solidFill>
                  <a:srgbClr val="FF0000"/>
                </a:solidFill>
              </a:rPr>
              <a:t>(</a:t>
            </a:r>
            <a:r>
              <a:rPr lang="en-US" sz="2500" dirty="0">
                <a:solidFill>
                  <a:srgbClr val="FF0000"/>
                </a:solidFill>
              </a:rPr>
              <a:t>If not given then consider 5%.</a:t>
            </a:r>
            <a:r>
              <a:rPr lang="en-US" sz="2500" b="1" dirty="0">
                <a:solidFill>
                  <a:srgbClr val="FF0000"/>
                </a:solidFill>
              </a:rPr>
              <a:t>)</a:t>
            </a:r>
          </a:p>
          <a:p>
            <a:pPr marL="385763" indent="-385763" algn="just">
              <a:spcAft>
                <a:spcPts val="900"/>
              </a:spcAft>
              <a:buFont typeface="+mj-lt"/>
              <a:buAutoNum type="arabicPeriod"/>
            </a:pPr>
            <a:r>
              <a:rPr lang="en-US" sz="2500" dirty="0"/>
              <a:t>Choose the appropriate test statistic- </a:t>
            </a:r>
          </a:p>
          <a:p>
            <a:pPr marL="728663" lvl="1" indent="-385763" algn="just">
              <a:spcAft>
                <a:spcPts val="900"/>
              </a:spcAft>
              <a:buFont typeface="+mj-lt"/>
              <a:buAutoNum type="arabicPeriod"/>
            </a:pPr>
            <a:r>
              <a:rPr lang="en-US" sz="1875" dirty="0"/>
              <a:t>Z-Score (sample size is greater than or equal to 30) </a:t>
            </a:r>
          </a:p>
          <a:p>
            <a:pPr marL="728663" lvl="1" indent="-385763" algn="just">
              <a:spcAft>
                <a:spcPts val="900"/>
              </a:spcAft>
              <a:buFont typeface="+mj-lt"/>
              <a:buAutoNum type="arabicPeriod"/>
            </a:pPr>
            <a:r>
              <a:rPr lang="en-US" sz="1875" dirty="0"/>
              <a:t>t- Test (sample size is less than 30)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75EE3-D6FA-4D79-F628-A3A56C8F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9F83DBD1-3A6E-FB65-27F6-A6171E838080}"/>
              </a:ext>
            </a:extLst>
          </p:cNvPr>
          <p:cNvSpPr/>
          <p:nvPr/>
        </p:nvSpPr>
        <p:spPr>
          <a:xfrm>
            <a:off x="6201373" y="4542417"/>
            <a:ext cx="403412" cy="94398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42321-DCCF-52E8-37C8-84B8BD458A3D}"/>
              </a:ext>
            </a:extLst>
          </p:cNvPr>
          <p:cNvSpPr txBox="1"/>
          <p:nvPr/>
        </p:nvSpPr>
        <p:spPr>
          <a:xfrm>
            <a:off x="6617018" y="4396871"/>
            <a:ext cx="2233684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375"/>
              </a:spcBef>
              <a:defRPr/>
            </a:pPr>
            <a:r>
              <a:rPr lang="en-US" dirty="0">
                <a:solidFill>
                  <a:srgbClr val="C00000"/>
                </a:solidFill>
                <a:latin typeface="Calibri" panose="020F0502020204030204"/>
              </a:rPr>
              <a:t>Data that approximately follows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04678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959644"/>
            <a:ext cx="7200901" cy="697706"/>
          </a:xfrm>
        </p:spPr>
        <p:txBody>
          <a:bodyPr>
            <a:normAutofit/>
          </a:bodyPr>
          <a:lstStyle/>
          <a:p>
            <a:r>
              <a:rPr lang="en-US" b="1" dirty="0"/>
              <a:t>Steps in 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49" y="1715520"/>
            <a:ext cx="3752402" cy="86470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250" dirty="0"/>
              <a:t>4. Computation-</a:t>
            </a:r>
          </a:p>
          <a:p>
            <a:pPr marL="342900" lvl="1" indent="0" algn="just">
              <a:buNone/>
            </a:pPr>
            <a:r>
              <a:rPr lang="en-US" sz="2250" b="1" dirty="0"/>
              <a:t>Z-Test-  </a:t>
            </a:r>
            <a:r>
              <a:rPr lang="en-US" sz="2250" dirty="0"/>
              <a:t>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DAC17-153A-6B23-66A8-0077E020C2A0}"/>
              </a:ext>
            </a:extLst>
          </p:cNvPr>
          <p:cNvSpPr txBox="1"/>
          <p:nvPr/>
        </p:nvSpPr>
        <p:spPr>
          <a:xfrm>
            <a:off x="5113422" y="3212487"/>
            <a:ext cx="3609473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1" indent="-171450" algn="just" defTabSz="685800">
              <a:lnSpc>
                <a:spcPct val="90000"/>
              </a:lnSpc>
              <a:spcBef>
                <a:spcPts val="375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x̄ is the sample mean, </a:t>
            </a:r>
            <a:r>
              <a:rPr lang="en-US" sz="2100" dirty="0" err="1">
                <a:solidFill>
                  <a:prstClr val="black"/>
                </a:solidFill>
                <a:latin typeface="Calibri" panose="020F0502020204030204"/>
              </a:rPr>
              <a:t>μ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 is the population mean, </a:t>
            </a:r>
            <a:r>
              <a:rPr lang="en-US" sz="2100" dirty="0" err="1">
                <a:solidFill>
                  <a:prstClr val="black"/>
                </a:solidFill>
                <a:latin typeface="Calibri" panose="020F0502020204030204"/>
              </a:rPr>
              <a:t>σ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 is the population standard deviation and n is the sample size.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ACF158-35E6-91F2-23A9-7CB8D5D78D61}"/>
                  </a:ext>
                </a:extLst>
              </p:cNvPr>
              <p:cNvSpPr txBox="1"/>
              <p:nvPr/>
            </p:nvSpPr>
            <p:spPr>
              <a:xfrm>
                <a:off x="830355" y="2859487"/>
                <a:ext cx="3943351" cy="268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 defTabSz="685800">
                  <a:lnSpc>
                    <a:spcPct val="90000"/>
                  </a:lnSpc>
                  <a:spcBef>
                    <a:spcPts val="375"/>
                  </a:spcBef>
                  <a:defRPr/>
                </a:pPr>
                <a:r>
                  <a:rPr lang="en-US" sz="3600" dirty="0">
                    <a:solidFill>
                      <a:prstClr val="black"/>
                    </a:solidFill>
                  </a:rPr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𝑛𝑝𝑞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60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</a:p>
              <a:p>
                <a:pPr lvl="1" algn="just" defTabSz="685800">
                  <a:lnSpc>
                    <a:spcPct val="90000"/>
                  </a:lnSpc>
                  <a:spcBef>
                    <a:spcPts val="375"/>
                  </a:spcBef>
                  <a:defRPr/>
                </a:pPr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1" algn="just" defTabSz="685800">
                  <a:lnSpc>
                    <a:spcPct val="90000"/>
                  </a:lnSpc>
                  <a:spcBef>
                    <a:spcPts val="375"/>
                  </a:spcBef>
                  <a:defRPr/>
                </a:pP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x-observed success, n-sample size, Z-calculated critical value, p-probability of success, q-probability of failure</a:t>
                </a:r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ACF158-35E6-91F2-23A9-7CB8D5D78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55" y="2859487"/>
                <a:ext cx="3943351" cy="2683940"/>
              </a:xfrm>
              <a:prstGeom prst="rect">
                <a:avLst/>
              </a:prstGeom>
              <a:blipFill>
                <a:blip r:embed="rId3"/>
                <a:stretch>
                  <a:fillRect t="-2955" r="-3400" b="-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5B0354-193B-2324-A91A-00A666C4679B}"/>
                  </a:ext>
                </a:extLst>
              </p:cNvPr>
              <p:cNvSpPr txBox="1"/>
              <p:nvPr/>
            </p:nvSpPr>
            <p:spPr>
              <a:xfrm>
                <a:off x="5543550" y="1924378"/>
                <a:ext cx="4572000" cy="1179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90000"/>
                  </a:lnSpc>
                  <a:spcBef>
                    <a:spcPts val="375"/>
                  </a:spcBef>
                  <a:defRPr/>
                </a:pPr>
                <a:r>
                  <a:rPr lang="en-US" sz="3600" dirty="0">
                    <a:solidFill>
                      <a:prstClr val="black"/>
                    </a:solidFill>
                  </a:rPr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̄</m:t>
                        </m:r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μ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prstClr val="black"/>
                                </a:solidFill>
                              </a:rPr>
                              <m:t>σ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5B0354-193B-2324-A91A-00A666C46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550" y="1924378"/>
                <a:ext cx="4572000" cy="1179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4881B02-8C9C-8046-81BD-3957B9D34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4748336"/>
            <a:ext cx="3312060" cy="115002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Steps in 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3000" dirty="0"/>
              <a:t>4.  Computation-</a:t>
            </a:r>
          </a:p>
          <a:p>
            <a:pPr lvl="1" algn="just"/>
            <a:r>
              <a:rPr lang="en-US" sz="2900" dirty="0"/>
              <a:t>t-Test- </a:t>
            </a:r>
          </a:p>
          <a:p>
            <a:pPr lvl="1" algn="just">
              <a:buNone/>
            </a:pPr>
            <a:endParaRPr lang="en-US" sz="2900" dirty="0"/>
          </a:p>
          <a:p>
            <a:pPr lvl="1" algn="just">
              <a:buNone/>
            </a:pPr>
            <a:endParaRPr lang="en-US" sz="2900" dirty="0"/>
          </a:p>
          <a:p>
            <a:pPr lvl="1" algn="just">
              <a:buNone/>
            </a:pPr>
            <a:endParaRPr lang="en-US" sz="2900" dirty="0"/>
          </a:p>
          <a:p>
            <a:pPr lvl="1" algn="just">
              <a:buNone/>
            </a:pPr>
            <a:r>
              <a:rPr lang="en-US" sz="2900" dirty="0"/>
              <a:t>s-  standard deviation of the sample, </a:t>
            </a:r>
            <a:r>
              <a:rPr lang="en-US" sz="3200" dirty="0"/>
              <a:t>µ - mean of the population,  x̄-sample mean</a:t>
            </a:r>
            <a:endParaRPr lang="en-US" sz="29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5122" name="Picture 2" descr="D:\Thapar\PREDICTIVE ANALYTICS USING STATISTICS\Lectures\t-Test-Formul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981200"/>
            <a:ext cx="3114675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Steps in 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 startAt="5"/>
            </a:pPr>
            <a:r>
              <a:rPr lang="en-US" sz="3000" dirty="0"/>
              <a:t>Making Decision-</a:t>
            </a:r>
          </a:p>
          <a:p>
            <a:pPr marL="514350" indent="-514350" algn="just">
              <a:buNone/>
            </a:pPr>
            <a:r>
              <a:rPr lang="en-US" sz="3000" dirty="0"/>
              <a:t>               </a:t>
            </a:r>
            <a:r>
              <a:rPr lang="en-US" sz="2800" dirty="0"/>
              <a:t>Z_cal &gt; </a:t>
            </a:r>
            <a:r>
              <a:rPr lang="en-US" sz="2800" dirty="0" err="1"/>
              <a:t>Z_tab</a:t>
            </a:r>
            <a:r>
              <a:rPr lang="en-US" sz="2800" dirty="0"/>
              <a:t>, hence (H_0) is rejected- For Z-Test</a:t>
            </a:r>
          </a:p>
          <a:p>
            <a:pPr marL="514350" indent="-514350" algn="just">
              <a:buNone/>
            </a:pPr>
            <a:r>
              <a:rPr lang="en-US" sz="2800" dirty="0"/>
              <a:t>                </a:t>
            </a:r>
            <a:r>
              <a:rPr lang="en-US" sz="2800" dirty="0" err="1"/>
              <a:t>t_cal</a:t>
            </a:r>
            <a:r>
              <a:rPr lang="en-US" sz="2800" dirty="0"/>
              <a:t> &gt; </a:t>
            </a:r>
            <a:r>
              <a:rPr lang="en-US" sz="2800" dirty="0" err="1"/>
              <a:t>t_tab</a:t>
            </a:r>
            <a:r>
              <a:rPr lang="en-US" sz="2800" dirty="0"/>
              <a:t>, hence (H_0) is rejected- </a:t>
            </a:r>
            <a:r>
              <a:rPr lang="en-US" sz="3200" dirty="0"/>
              <a:t>For t-Test</a:t>
            </a:r>
            <a:endParaRPr lang="en-US" sz="3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52851E-9FCC-D8B0-BC44-5241841FAAC7}"/>
                  </a:ext>
                </a:extLst>
              </p:cNvPr>
              <p:cNvSpPr txBox="1"/>
              <p:nvPr/>
            </p:nvSpPr>
            <p:spPr>
              <a:xfrm>
                <a:off x="533400" y="3033789"/>
                <a:ext cx="7981950" cy="11541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300" b="1" dirty="0"/>
                  <a:t>Note: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300" b="1" dirty="0"/>
                  <a:t>In two-tailed tests, we compare </a:t>
                </a:r>
                <a14:m>
                  <m:oMath xmlns:m="http://schemas.openxmlformats.org/officeDocument/2006/math">
                    <m:r>
                      <a:rPr lang="en-IN" sz="2300" b="1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𝒄𝒂𝒍</m:t>
                        </m:r>
                      </m:sub>
                    </m:sSub>
                    <m:r>
                      <a:rPr lang="ar-AE" sz="2300" b="1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IN" sz="2300" b="1" dirty="0"/>
                  <a:t> or </a:t>
                </a:r>
                <a14:m>
                  <m:oMath xmlns:m="http://schemas.openxmlformats.org/officeDocument/2006/math">
                    <m:r>
                      <a:rPr lang="en-IN" sz="2300" b="1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3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𝒄𝒂𝒍</m:t>
                        </m:r>
                      </m:sub>
                    </m:sSub>
                    <m:r>
                      <a:rPr lang="ar-AE" sz="2300" b="1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IN" sz="2300" b="1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𝒕𝒂𝒃</m:t>
                        </m:r>
                      </m:sub>
                    </m:sSub>
                  </m:oMath>
                </a14:m>
                <a:r>
                  <a:rPr lang="ar-AE" sz="2300" b="1" dirty="0"/>
                  <a:t>,</a:t>
                </a:r>
                <a:r>
                  <a:rPr lang="en-IN" sz="2300" b="1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3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𝒕𝒂𝒃</m:t>
                        </m:r>
                      </m:sub>
                    </m:sSub>
                    <m:r>
                      <a:rPr lang="en-IN" sz="2300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300" b="1" i="0" smtClean="0">
                        <a:latin typeface="Cambria Math" panose="02040503050406030204" pitchFamily="18" charset="0"/>
                      </a:rPr>
                      <m:t>𝐫𝐞𝐬𝐩𝐞𝐜𝐭𝐢𝐯𝐞𝐥𝐲</m:t>
                    </m:r>
                    <m:r>
                      <a:rPr lang="en-IN" sz="23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300" b="1" dirty="0"/>
                  <a:t>not the signed value.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52851E-9FCC-D8B0-BC44-5241841FA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033789"/>
                <a:ext cx="7981950" cy="1154162"/>
              </a:xfrm>
              <a:prstGeom prst="rect">
                <a:avLst/>
              </a:prstGeom>
              <a:blipFill>
                <a:blip r:embed="rId2"/>
                <a:stretch>
                  <a:fillRect l="-1146" t="-4233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8C97DE-95FF-4C53-4CEC-9969F9EF0D65}"/>
                  </a:ext>
                </a:extLst>
              </p:cNvPr>
              <p:cNvSpPr txBox="1"/>
              <p:nvPr/>
            </p:nvSpPr>
            <p:spPr>
              <a:xfrm>
                <a:off x="533400" y="4210322"/>
                <a:ext cx="8281358" cy="11541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300" b="1" dirty="0"/>
                  <a:t>One-tailed test: Decision depends on the sign and magnitude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𝒄𝒂𝒍</m:t>
                        </m:r>
                      </m:sub>
                    </m:sSub>
                  </m:oMath>
                </a14:m>
                <a:r>
                  <a:rPr lang="ar-AE" sz="2300" b="1" dirty="0"/>
                  <a:t>, </a:t>
                </a:r>
                <a:r>
                  <a:rPr lang="en-IN" sz="2300" b="1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3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IN" sz="2300" b="1" i="1" smtClean="0">
                            <a:latin typeface="Cambria Math" panose="02040503050406030204" pitchFamily="18" charset="0"/>
                          </a:rPr>
                          <m:t>𝒄𝒂𝒍</m:t>
                        </m:r>
                      </m:sub>
                    </m:sSub>
                    <m:r>
                      <a:rPr lang="en-IN" sz="23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300" b="1">
                        <a:latin typeface="Cambria Math" panose="02040503050406030204" pitchFamily="18" charset="0"/>
                      </a:rPr>
                      <m:t>𝐫𝐞𝐬𝐩𝐞𝐜𝐭𝐢𝐯𝐞𝐥𝐲</m:t>
                    </m:r>
                    <m:r>
                      <a:rPr lang="en-IN" sz="23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300" b="1" dirty="0"/>
                  <a:t>and it is compared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𝒕𝒂𝒃</m:t>
                        </m:r>
                      </m:sub>
                    </m:sSub>
                    <m:r>
                      <m:rPr>
                        <m:nor/>
                      </m:rPr>
                      <a:rPr lang="en-IN" sz="2300" b="1" dirty="0"/>
                      <m:t>or</m:t>
                    </m:r>
                    <m:r>
                      <m:rPr>
                        <m:nor/>
                      </m:rPr>
                      <a:rPr lang="en-IN" sz="2300" b="1" dirty="0"/>
                      <m:t> </m:t>
                    </m:r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3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𝒕𝒂𝒃</m:t>
                        </m:r>
                      </m:sub>
                    </m:sSub>
                    <m:r>
                      <a:rPr lang="en-IN" sz="23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300" b="1">
                        <a:latin typeface="Cambria Math" panose="02040503050406030204" pitchFamily="18" charset="0"/>
                      </a:rPr>
                      <m:t>𝐫𝐞𝐬𝐩𝐞𝐜𝐭𝐢𝐯𝐞𝐥𝐲</m:t>
                    </m:r>
                  </m:oMath>
                </a14:m>
                <a:r>
                  <a:rPr lang="en-IN" sz="2300" b="1" dirty="0"/>
                  <a:t>in the direction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ar-AE" sz="23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ar-AE" sz="2300" b="1" dirty="0"/>
                  <a:t>.</a:t>
                </a:r>
                <a:endParaRPr lang="en-IN" sz="23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8C97DE-95FF-4C53-4CEC-9969F9EF0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10322"/>
                <a:ext cx="8281358" cy="1154162"/>
              </a:xfrm>
              <a:prstGeom prst="rect">
                <a:avLst/>
              </a:prstGeom>
              <a:blipFill>
                <a:blip r:embed="rId3"/>
                <a:stretch>
                  <a:fillRect l="-884" t="-4233" r="-1473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1EA0-9684-D5A3-1DAF-D579F5E3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/>
              <a:t>Z-test vs t-test Assumptions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5909E2E-7280-648F-F384-F90C817C1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659480"/>
              </p:ext>
            </p:extLst>
          </p:nvPr>
        </p:nvGraphicFramePr>
        <p:xfrm>
          <a:off x="1143000" y="2514600"/>
          <a:ext cx="7086600" cy="15544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38454741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73017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Z-Test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t-Test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10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800"/>
                        <a:t>σ </a:t>
                      </a:r>
                      <a:r>
                        <a:rPr lang="en-IN" sz="2800"/>
                        <a:t>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800"/>
                        <a:t>σ </a:t>
                      </a:r>
                      <a:r>
                        <a:rPr lang="en-IN" sz="2800"/>
                        <a:t>unknown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05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Large n (≥30)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Small n (&lt;30)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278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6F529-0488-03C4-7E52-454EA52E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962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A coin was tossed 484 times and Head turned up 265 times. Test the hypothesis that the coin is unbiased. The critical Z-values are given. </a:t>
            </a:r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799" y="3048000"/>
          <a:ext cx="8229601" cy="3139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4512">
                <a:tc>
                  <a:txBody>
                    <a:bodyPr/>
                    <a:lstStyle/>
                    <a:p>
                      <a:r>
                        <a:rPr lang="en-US" sz="20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Significance </a:t>
                      </a:r>
                    </a:p>
                    <a:p>
                      <a:r>
                        <a:rPr lang="en-US" sz="2000" dirty="0"/>
                        <a:t>Level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Confidence</a:t>
                      </a:r>
                    </a:p>
                    <a:p>
                      <a:r>
                        <a:rPr lang="en-US" sz="2000" dirty="0"/>
                        <a:t>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Two-</a:t>
                      </a:r>
                      <a:r>
                        <a:rPr kumimoji="0" lang="en-US" sz="2000" b="1" i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Tailed Test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One-</a:t>
                      </a:r>
                      <a:r>
                        <a:rPr kumimoji="0" lang="en-US" sz="2000" b="1" i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Tailed Test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370">
                <a:tc>
                  <a:txBody>
                    <a:bodyPr/>
                    <a:lstStyle/>
                    <a:p>
                      <a:r>
                        <a:rPr lang="en-US" sz="2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370">
                <a:tc>
                  <a:txBody>
                    <a:bodyPr/>
                    <a:lstStyle/>
                    <a:p>
                      <a:r>
                        <a:rPr lang="en-US" sz="24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370">
                <a:tc>
                  <a:txBody>
                    <a:bodyPr/>
                    <a:lstStyle/>
                    <a:p>
                      <a:r>
                        <a:rPr lang="en-US" sz="24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691">
                <a:tc>
                  <a:txBody>
                    <a:bodyPr/>
                    <a:lstStyle/>
                    <a:p>
                      <a:r>
                        <a:rPr lang="en-US" sz="2400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200" dirty="0"/>
              <a:t>Solution-</a:t>
            </a:r>
          </a:p>
          <a:p>
            <a:r>
              <a:rPr lang="en-US" sz="3200" dirty="0"/>
              <a:t>Step-1 :</a:t>
            </a:r>
          </a:p>
          <a:p>
            <a:pPr lvl="1" algn="just"/>
            <a:r>
              <a:rPr lang="en-US" sz="3000" dirty="0"/>
              <a:t>H_0 – Coin is unbiased, </a:t>
            </a:r>
            <a:r>
              <a:rPr lang="en-US" sz="3200" dirty="0"/>
              <a:t>meaning the probability of getting heads is p=0.5</a:t>
            </a:r>
            <a:endParaRPr lang="en-US" sz="3000" dirty="0"/>
          </a:p>
          <a:p>
            <a:pPr lvl="1" algn="just"/>
            <a:r>
              <a:rPr lang="en-US" sz="3000" dirty="0" err="1"/>
              <a:t>H_a</a:t>
            </a:r>
            <a:r>
              <a:rPr lang="en-US" sz="3000" dirty="0"/>
              <a:t> – Coin is biased meaning the probability of getting heads is not equal to 0.5 (𝑝≠0.5).</a:t>
            </a:r>
          </a:p>
          <a:p>
            <a:pPr marL="541782" indent="-514350" algn="just"/>
            <a:r>
              <a:rPr lang="en-US" sz="3200" dirty="0"/>
              <a:t>Step-2: Setup a significance level- If not given then consider 5%.</a:t>
            </a:r>
          </a:p>
          <a:p>
            <a:pPr marL="541782" indent="-514350" algn="just"/>
            <a:r>
              <a:rPr lang="en-US" sz="3200" dirty="0"/>
              <a:t>Step-3: Setting a Test statistic- Z-Score (sample size is greater than 30)</a:t>
            </a:r>
          </a:p>
          <a:p>
            <a:pPr marL="541782" indent="-514350" algn="just"/>
            <a:r>
              <a:rPr lang="en-US" sz="3200" b="1" dirty="0">
                <a:solidFill>
                  <a:srgbClr val="FF0000"/>
                </a:solidFill>
              </a:rPr>
              <a:t>         Z= x-</a:t>
            </a:r>
            <a:r>
              <a:rPr lang="en-US" sz="3200" b="1" dirty="0" err="1">
                <a:solidFill>
                  <a:srgbClr val="FF0000"/>
                </a:solidFill>
              </a:rPr>
              <a:t>np</a:t>
            </a:r>
            <a:r>
              <a:rPr lang="en-US" sz="3200" b="1" dirty="0">
                <a:solidFill>
                  <a:srgbClr val="FF0000"/>
                </a:solidFill>
              </a:rPr>
              <a:t>/</a:t>
            </a:r>
            <a:r>
              <a:rPr lang="en-US" sz="3200" b="1" dirty="0" err="1">
                <a:solidFill>
                  <a:srgbClr val="FF0000"/>
                </a:solidFill>
              </a:rPr>
              <a:t>sqrt</a:t>
            </a:r>
            <a:r>
              <a:rPr lang="en-US" sz="3200" b="1" dirty="0">
                <a:solidFill>
                  <a:srgbClr val="FF0000"/>
                </a:solidFill>
              </a:rPr>
              <a:t>(</a:t>
            </a:r>
            <a:r>
              <a:rPr lang="en-US" sz="3200" b="1" dirty="0" err="1">
                <a:solidFill>
                  <a:srgbClr val="FF0000"/>
                </a:solidFill>
              </a:rPr>
              <a:t>npq</a:t>
            </a:r>
            <a:r>
              <a:rPr lang="en-US" sz="32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Solution-</a:t>
            </a:r>
          </a:p>
          <a:p>
            <a:r>
              <a:rPr lang="en-US" sz="3200" dirty="0"/>
              <a:t>Step-4: Calculation  </a:t>
            </a:r>
          </a:p>
          <a:p>
            <a:pPr>
              <a:buNone/>
            </a:pPr>
            <a:r>
              <a:rPr lang="en-US" sz="3200" dirty="0"/>
              <a:t>   n=484, x=265, p=0.5, q=0.5</a:t>
            </a:r>
          </a:p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             </a:t>
            </a:r>
            <a:r>
              <a:rPr lang="en-US" sz="3200" b="1" dirty="0"/>
              <a:t>Z= x-</a:t>
            </a:r>
            <a:r>
              <a:rPr lang="en-US" sz="3200" b="1" dirty="0" err="1"/>
              <a:t>np</a:t>
            </a:r>
            <a:r>
              <a:rPr lang="en-US" sz="3200" b="1" dirty="0"/>
              <a:t>/</a:t>
            </a:r>
            <a:r>
              <a:rPr lang="en-US" sz="3200" b="1" dirty="0" err="1"/>
              <a:t>sqrt</a:t>
            </a:r>
            <a:r>
              <a:rPr lang="en-US" sz="3200" b="1" dirty="0"/>
              <a:t>(</a:t>
            </a:r>
            <a:r>
              <a:rPr lang="en-US" sz="3200" b="1" dirty="0" err="1"/>
              <a:t>npq</a:t>
            </a:r>
            <a:r>
              <a:rPr lang="en-US" sz="3200" b="1" dirty="0"/>
              <a:t>)</a:t>
            </a:r>
          </a:p>
          <a:p>
            <a:pPr>
              <a:buNone/>
            </a:pPr>
            <a:r>
              <a:rPr lang="en-US" sz="3200" b="1" dirty="0"/>
              <a:t>Put the values:</a:t>
            </a:r>
          </a:p>
          <a:p>
            <a:pPr>
              <a:buNone/>
            </a:pPr>
            <a:r>
              <a:rPr lang="en-US" sz="3200" b="1" dirty="0"/>
              <a:t>             </a:t>
            </a:r>
            <a:r>
              <a:rPr lang="en-US" sz="3200" dirty="0"/>
              <a:t>Z= 265-484.(0.5)/</a:t>
            </a:r>
            <a:r>
              <a:rPr lang="en-US" sz="3200" dirty="0" err="1"/>
              <a:t>sqrt</a:t>
            </a:r>
            <a:r>
              <a:rPr lang="en-US" sz="3200" dirty="0"/>
              <a:t>(484.(0.5).(0.5)</a:t>
            </a:r>
          </a:p>
          <a:p>
            <a:pPr>
              <a:buNone/>
            </a:pPr>
            <a:r>
              <a:rPr lang="en-US" sz="3200" dirty="0"/>
              <a:t>             </a:t>
            </a:r>
            <a:r>
              <a:rPr lang="en-US" sz="3200" dirty="0" err="1"/>
              <a:t>Z_cal</a:t>
            </a:r>
            <a:r>
              <a:rPr lang="en-US" sz="3200" dirty="0"/>
              <a:t>  =2.09</a:t>
            </a:r>
          </a:p>
          <a:p>
            <a:pPr>
              <a:buNone/>
            </a:pPr>
            <a:r>
              <a:rPr lang="en-US" sz="3200" dirty="0"/>
              <a:t>             </a:t>
            </a:r>
            <a:r>
              <a:rPr lang="en-US" sz="3200" dirty="0" err="1"/>
              <a:t>Z_tab</a:t>
            </a:r>
            <a:r>
              <a:rPr lang="en-US" sz="3200" dirty="0"/>
              <a:t> = 1.96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200" dirty="0"/>
              <a:t>Solution-</a:t>
            </a:r>
          </a:p>
          <a:p>
            <a:r>
              <a:rPr lang="en-US" sz="3200" dirty="0"/>
              <a:t>Step-5: Make a decision</a:t>
            </a:r>
          </a:p>
          <a:p>
            <a:r>
              <a:rPr lang="en-US" sz="3200" dirty="0"/>
              <a:t>Check -1: </a:t>
            </a:r>
            <a:r>
              <a:rPr lang="en-US" sz="3200" dirty="0" err="1"/>
              <a:t>Z_cal</a:t>
            </a:r>
            <a:r>
              <a:rPr lang="en-US" sz="3200" dirty="0"/>
              <a:t> &gt; </a:t>
            </a:r>
            <a:r>
              <a:rPr lang="en-US" sz="3200" dirty="0" err="1"/>
              <a:t>Z_tab</a:t>
            </a:r>
            <a:r>
              <a:rPr lang="en-US" sz="3200" dirty="0"/>
              <a:t>, hence (H_0) is rejected. </a:t>
            </a:r>
          </a:p>
          <a:p>
            <a:pPr algn="ctr">
              <a:buNone/>
            </a:pPr>
            <a:r>
              <a:rPr lang="en-US" sz="3200" dirty="0"/>
              <a:t>or</a:t>
            </a:r>
          </a:p>
          <a:p>
            <a:r>
              <a:rPr lang="en-US" sz="3200" dirty="0"/>
              <a:t>Check-2: The </a:t>
            </a:r>
            <a:r>
              <a:rPr lang="en-US" sz="3200" dirty="0" err="1"/>
              <a:t>Z_cal</a:t>
            </a:r>
            <a:r>
              <a:rPr lang="en-US" sz="3200" dirty="0"/>
              <a:t> (2.09) does not lie in the range of </a:t>
            </a:r>
            <a:r>
              <a:rPr lang="en-US" sz="3200" dirty="0" err="1"/>
              <a:t>Z_tab</a:t>
            </a:r>
            <a:r>
              <a:rPr lang="en-US" sz="3200" dirty="0"/>
              <a:t> (i.e. -1.96 to 1.96)</a:t>
            </a:r>
          </a:p>
          <a:p>
            <a:pPr>
              <a:buNone/>
            </a:pPr>
            <a:r>
              <a:rPr lang="en-US" sz="3200" dirty="0">
                <a:solidFill>
                  <a:srgbClr val="FF0000"/>
                </a:solidFill>
              </a:rPr>
              <a:t>Hence  the Null Hypothesis (H_0) is rejected.</a:t>
            </a:r>
          </a:p>
          <a:p>
            <a:pPr>
              <a:buNone/>
            </a:pPr>
            <a:endParaRPr lang="en-US" sz="3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200" dirty="0"/>
              <a:t>This means there is sufficient statistical evidence at 5% significance level to conclude that the coin is biased.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179E33F-D1E2-4C17-0995-06595712631D}"/>
                  </a:ext>
                </a:extLst>
              </p14:cNvPr>
              <p14:cNvContentPartPr/>
              <p14:nvPr/>
            </p14:nvContentPartPr>
            <p14:xfrm>
              <a:off x="3487712" y="1145395"/>
              <a:ext cx="48240" cy="21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179E33F-D1E2-4C17-0995-0659571263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0072" y="1127395"/>
                <a:ext cx="83880" cy="5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In 256 throws of a six faced dice, odd points appeared 122 times. Would you say that the dice is fair at 5% level of significance?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Solution- </a:t>
            </a:r>
          </a:p>
          <a:p>
            <a:pPr algn="just">
              <a:buNone/>
            </a:pPr>
            <a:r>
              <a:rPr lang="en-US" sz="3200" dirty="0"/>
              <a:t>           </a:t>
            </a:r>
            <a:r>
              <a:rPr lang="en-US" sz="3200" dirty="0" err="1"/>
              <a:t>Z_cal</a:t>
            </a:r>
            <a:r>
              <a:rPr lang="en-US" sz="3200" dirty="0"/>
              <a:t>= -0.75 &lt; </a:t>
            </a:r>
            <a:r>
              <a:rPr lang="en-US" sz="3200" dirty="0" err="1"/>
              <a:t>Z_tab</a:t>
            </a:r>
            <a:endParaRPr lang="en-US" sz="3200" dirty="0"/>
          </a:p>
          <a:p>
            <a:pPr algn="just">
              <a:buNone/>
            </a:pPr>
            <a:r>
              <a:rPr lang="en-US" sz="3200" dirty="0"/>
              <a:t> </a:t>
            </a:r>
            <a:r>
              <a:rPr lang="en-US" sz="3200" b="1" dirty="0"/>
              <a:t>Hence H_0 is accepted.</a:t>
            </a:r>
          </a:p>
          <a:p>
            <a:pPr algn="just">
              <a:buNone/>
            </a:pPr>
            <a:endParaRPr lang="en-US" sz="3200" b="1" dirty="0"/>
          </a:p>
          <a:p>
            <a:pPr algn="just">
              <a:buNone/>
            </a:pPr>
            <a:r>
              <a:rPr lang="en-US" sz="3200" dirty="0"/>
              <a:t>This means there is sufficient statistical evidence at 5% significance level to conclude that the dice is fair.</a:t>
            </a:r>
            <a:endParaRPr lang="en-US" sz="3200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3200" b="1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dirty="0"/>
              <a:t>Q.3.1 A professor claims that all the students in the first-year class possess average IQs. Randomly, a test was conducted on thirty students, resulting in a mean IQ is 117. The population mean was 100, and the standard deviation was 27. </a:t>
            </a:r>
            <a:endParaRPr lang="en-US" sz="2600" b="1" dirty="0">
              <a:highlight>
                <a:srgbClr val="FFFF00"/>
              </a:highlight>
            </a:endParaRPr>
          </a:p>
          <a:p>
            <a:pPr marL="0" indent="0" algn="just">
              <a:buNone/>
            </a:pPr>
            <a:endParaRPr lang="en-US" sz="2600" b="1" dirty="0">
              <a:highlight>
                <a:srgbClr val="FFFF00"/>
              </a:highlight>
            </a:endParaRPr>
          </a:p>
          <a:p>
            <a:pPr marL="0" indent="0" algn="just">
              <a:buNone/>
            </a:pPr>
            <a:r>
              <a:rPr lang="en-US" sz="2600" dirty="0"/>
              <a:t>Q.3.2 A professor claims that first-year students have higher-than-average </a:t>
            </a:r>
            <a:r>
              <a:rPr lang="en-US" sz="2600" dirty="0" err="1"/>
              <a:t>Iq</a:t>
            </a:r>
            <a:r>
              <a:rPr lang="en-US" sz="2600" dirty="0"/>
              <a:t>. To test this claim, a random sample of 30 students was taken, and their mean IQ was found to be 117. The population mean IQ is known to be 100, with a standard deviation of 27. Conduct a hypothesis test at a 5% significance level to determine if the students have significantly higher IQs than the population average.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6776-2E0B-70D7-523E-72FEB2FC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6ADB-0362-55FD-C65B-08F077D7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44098C-7BD9-CF20-8F0E-47E9355D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25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600" dirty="0"/>
              <a:t>Q.3.1- A professor claims that all the students in the first-year class </a:t>
            </a:r>
            <a:r>
              <a:rPr lang="en-US" sz="2600" dirty="0">
                <a:highlight>
                  <a:srgbClr val="FFFF00"/>
                </a:highlight>
              </a:rPr>
              <a:t>possess average IQs. </a:t>
            </a:r>
            <a:r>
              <a:rPr lang="en-US" sz="2600" dirty="0"/>
              <a:t>Randomly, a test was conducted on thirty students, resulting in a mean IQ is 117. The population mean was 100, and the standard deviation was 27. </a:t>
            </a:r>
            <a:r>
              <a:rPr lang="en-US" sz="2600" b="1" dirty="0">
                <a:highlight>
                  <a:srgbClr val="FFFF00"/>
                </a:highlight>
              </a:rPr>
              <a:t>(Two tailed)</a:t>
            </a:r>
          </a:p>
          <a:p>
            <a:pPr marL="0" indent="0" algn="just">
              <a:buNone/>
            </a:pPr>
            <a:endParaRPr lang="en-US" sz="2600" b="1" dirty="0">
              <a:highlight>
                <a:srgbClr val="FFFF00"/>
              </a:highlight>
            </a:endParaRPr>
          </a:p>
          <a:p>
            <a:pPr marL="0" indent="0" algn="just">
              <a:buNone/>
            </a:pPr>
            <a:r>
              <a:rPr lang="en-US" sz="2600" dirty="0"/>
              <a:t>Q.3.2-A professor claims that first-year students have </a:t>
            </a:r>
            <a:r>
              <a:rPr lang="en-US" sz="2600" dirty="0">
                <a:highlight>
                  <a:srgbClr val="FFFF00"/>
                </a:highlight>
              </a:rPr>
              <a:t>higher-than-average IQs. </a:t>
            </a:r>
            <a:r>
              <a:rPr lang="en-US" sz="2600" dirty="0"/>
              <a:t>To test this claim, a random sample of 30 students was taken, and their mean IQ was found to be 117. The population mean IQ is known to be 100, with a standard deviation of 27. Conduct a hypothesis test at a 5% significance level to determine if the students have significantly higher IQs than the population average. </a:t>
            </a:r>
          </a:p>
          <a:p>
            <a:pPr marL="0" indent="0" algn="just">
              <a:buNone/>
            </a:pPr>
            <a:r>
              <a:rPr lang="en-US" sz="2600" b="1" dirty="0">
                <a:highlight>
                  <a:srgbClr val="FFFF00"/>
                </a:highlight>
              </a:rPr>
              <a:t>(One tailed)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5E863-2772-3DD5-EEF0-022EF63E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916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5608" y="894935"/>
            <a:ext cx="7173943" cy="606006"/>
          </a:xfrm>
        </p:spPr>
        <p:txBody>
          <a:bodyPr>
            <a:normAutofit/>
          </a:bodyPr>
          <a:lstStyle/>
          <a:p>
            <a:r>
              <a:rPr lang="en-US" b="1" dirty="0"/>
              <a:t>Hypothesis Testing- Question-Solution 3.1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2283" y="1479887"/>
            <a:ext cx="8113598" cy="3015913"/>
          </a:xfrm>
        </p:spPr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/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C583AF-9576-3626-440A-6C86FCBC8E02}"/>
              </a:ext>
            </a:extLst>
          </p:cNvPr>
          <p:cNvSpPr txBox="1"/>
          <p:nvPr/>
        </p:nvSpPr>
        <p:spPr>
          <a:xfrm>
            <a:off x="-76200" y="1717768"/>
            <a:ext cx="8448419" cy="1099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1" indent="-171450" algn="just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/>
            </a:pPr>
            <a:r>
              <a:rPr lang="en-US" sz="2250" dirty="0">
                <a:latin typeface="Calibri" panose="020F0502020204030204"/>
              </a:rPr>
              <a:t>H</a:t>
            </a:r>
            <a:r>
              <a:rPr lang="en-US" sz="2250" baseline="-25000" dirty="0">
                <a:latin typeface="Calibri" panose="020F0502020204030204"/>
              </a:rPr>
              <a:t>0</a:t>
            </a:r>
            <a:r>
              <a:rPr lang="en-US" sz="2250" dirty="0">
                <a:latin typeface="Calibri" panose="020F0502020204030204"/>
              </a:rPr>
              <a:t> – </a:t>
            </a:r>
            <a:r>
              <a:rPr lang="en-US" sz="2100" dirty="0"/>
              <a:t>All the students in the first-year class possess average </a:t>
            </a:r>
            <a:r>
              <a:rPr lang="en-US" sz="2100" dirty="0" err="1"/>
              <a:t>Iqs</a:t>
            </a:r>
            <a:r>
              <a:rPr lang="en-US" sz="2100" dirty="0"/>
              <a:t> (IQ=100)</a:t>
            </a:r>
            <a:endParaRPr lang="en-US" sz="2250" dirty="0">
              <a:latin typeface="Calibri" panose="020F0502020204030204"/>
            </a:endParaRPr>
          </a:p>
          <a:p>
            <a:pPr marL="514350" lvl="1" indent="-171450" algn="just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/>
            </a:pPr>
            <a:r>
              <a:rPr lang="en-US" sz="2250" dirty="0">
                <a:latin typeface="Calibri" panose="020F0502020204030204"/>
              </a:rPr>
              <a:t>H</a:t>
            </a:r>
            <a:r>
              <a:rPr lang="en-US" sz="2250" baseline="-25000" dirty="0">
                <a:latin typeface="Calibri" panose="020F0502020204030204"/>
              </a:rPr>
              <a:t>a</a:t>
            </a:r>
            <a:r>
              <a:rPr lang="en-US" sz="2250" dirty="0">
                <a:latin typeface="Calibri" panose="020F0502020204030204"/>
              </a:rPr>
              <a:t> – </a:t>
            </a:r>
            <a:r>
              <a:rPr lang="en-US" sz="2100" dirty="0"/>
              <a:t>All the students in the first-year class do not possess average </a:t>
            </a:r>
            <a:r>
              <a:rPr lang="en-US" sz="2100" dirty="0" err="1"/>
              <a:t>Iqs</a:t>
            </a:r>
            <a:r>
              <a:rPr lang="en-US" sz="2100" dirty="0"/>
              <a:t> (IQ </a:t>
            </a:r>
            <a:r>
              <a:rPr lang="en-US" sz="2400" dirty="0"/>
              <a:t>≠100)</a:t>
            </a:r>
            <a:endParaRPr lang="en-US" sz="2250" dirty="0"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FC811E-DBF4-BFB5-C5CA-9AF9CF0036BF}"/>
              </a:ext>
            </a:extLst>
          </p:cNvPr>
          <p:cNvSpPr txBox="1"/>
          <p:nvPr/>
        </p:nvSpPr>
        <p:spPr>
          <a:xfrm>
            <a:off x="628649" y="2998548"/>
            <a:ext cx="793306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" algn="just" defTabSz="685800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/>
              </a:rPr>
              <a:t>Setup a significance level- If not given then consider 5%.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91D30F-3F41-F191-E8B0-04A8F6695442}"/>
                  </a:ext>
                </a:extLst>
              </p:cNvPr>
              <p:cNvSpPr txBox="1"/>
              <p:nvPr/>
            </p:nvSpPr>
            <p:spPr>
              <a:xfrm>
                <a:off x="628649" y="3962400"/>
                <a:ext cx="7743570" cy="1740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90000"/>
                  </a:lnSpc>
                  <a:spcBef>
                    <a:spcPts val="375"/>
                  </a:spcBef>
                  <a:defRPr/>
                </a:pPr>
                <a:r>
                  <a:rPr lang="en-US" sz="3600" dirty="0">
                    <a:solidFill>
                      <a:srgbClr val="C00000"/>
                    </a:solidFill>
                  </a:rPr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C0000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C00000"/>
                            </a:solidFill>
                          </a:rPr>
                          <m:t>̄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C00000"/>
                            </a:solidFill>
                          </a:rPr>
                          <m:t>μ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srgbClr val="C00000"/>
                                </a:solidFill>
                              </a:rPr>
                              <m:t>σ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117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srgbClr val="C00000"/>
                                </a:solidFill>
                              </a:rPr>
                              <m:t>27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srgbClr val="C00000"/>
                                </a:solidFill>
                              </a:rPr>
                              <m:t>27</m:t>
                            </m:r>
                          </m:num>
                          <m:den>
                            <m:r>
                              <a:rPr lang="en-US" sz="36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36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6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47</m:t>
                            </m:r>
                          </m:den>
                        </m:f>
                      </m:den>
                    </m:f>
                    <m:r>
                      <a:rPr lang="en-US" sz="3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92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= 3.44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91D30F-3F41-F191-E8B0-04A8F6695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3962400"/>
                <a:ext cx="7743570" cy="1740285"/>
              </a:xfrm>
              <a:prstGeom prst="rect">
                <a:avLst/>
              </a:prstGeom>
              <a:blipFill>
                <a:blip r:embed="rId2"/>
                <a:stretch>
                  <a:fillRect r="-3780" b="-12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9154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Solution 3.1- Two tailed test</a:t>
            </a:r>
          </a:p>
          <a:p>
            <a:pPr algn="just"/>
            <a:endParaRPr lang="en-US" sz="3200" b="1" dirty="0"/>
          </a:p>
          <a:p>
            <a:pPr algn="just"/>
            <a:endParaRPr lang="en-US" sz="3200" b="1" dirty="0"/>
          </a:p>
          <a:p>
            <a:pPr marL="0" indent="0" algn="just">
              <a:buNone/>
            </a:pPr>
            <a:endParaRPr lang="en-US" sz="3200" b="1" dirty="0"/>
          </a:p>
          <a:p>
            <a:pPr marL="0" indent="0" algn="ctr">
              <a:buNone/>
            </a:pPr>
            <a:r>
              <a:rPr lang="en-US" sz="3200" b="1" dirty="0" err="1"/>
              <a:t>Z</a:t>
            </a:r>
            <a:r>
              <a:rPr lang="en-US" sz="3200" b="1" baseline="-25000" dirty="0" err="1"/>
              <a:t>Cal</a:t>
            </a:r>
            <a:r>
              <a:rPr lang="en-US" sz="3200" b="1" dirty="0"/>
              <a:t> </a:t>
            </a:r>
            <a:r>
              <a:rPr lang="en-US" sz="3200" dirty="0"/>
              <a:t>= 3.44</a:t>
            </a:r>
          </a:p>
          <a:p>
            <a:pPr marL="0" indent="0">
              <a:buNone/>
            </a:pPr>
            <a:r>
              <a:rPr lang="en-US" sz="3200" dirty="0" err="1">
                <a:highlight>
                  <a:srgbClr val="FFFF00"/>
                </a:highlight>
              </a:rPr>
              <a:t>Z</a:t>
            </a:r>
            <a:r>
              <a:rPr lang="en-US" sz="3200" baseline="-25000" dirty="0" err="1">
                <a:highlight>
                  <a:srgbClr val="FFFF00"/>
                </a:highlight>
              </a:rPr>
              <a:t>Tab</a:t>
            </a:r>
            <a:r>
              <a:rPr lang="en-US" sz="3200" dirty="0">
                <a:highlight>
                  <a:srgbClr val="FFFF00"/>
                </a:highlight>
              </a:rPr>
              <a:t> =1.96 (</a:t>
            </a:r>
            <a:r>
              <a:rPr lang="en-US" sz="3000" dirty="0">
                <a:highlight>
                  <a:srgbClr val="FFFF00"/>
                </a:highlight>
              </a:rPr>
              <a:t>Value from the Table given in question 1)</a:t>
            </a:r>
          </a:p>
          <a:p>
            <a:pPr marL="0" indent="0">
              <a:buNone/>
            </a:pPr>
            <a:r>
              <a:rPr lang="en-US" sz="3200" dirty="0" err="1"/>
              <a:t>Z</a:t>
            </a:r>
            <a:r>
              <a:rPr lang="en-US" sz="3200" baseline="-25000" dirty="0" err="1"/>
              <a:t>cal</a:t>
            </a:r>
            <a:r>
              <a:rPr lang="en-US" sz="3200" dirty="0"/>
              <a:t> &gt; </a:t>
            </a:r>
            <a:r>
              <a:rPr lang="en-US" sz="3200" dirty="0" err="1"/>
              <a:t>Z</a:t>
            </a:r>
            <a:r>
              <a:rPr lang="en-US" sz="3200" baseline="-25000" dirty="0" err="1"/>
              <a:t>tab</a:t>
            </a:r>
            <a:r>
              <a:rPr lang="en-US" sz="3200" dirty="0"/>
              <a:t>, </a:t>
            </a:r>
            <a:r>
              <a:rPr lang="en-US" sz="3200" dirty="0">
                <a:highlight>
                  <a:srgbClr val="FFFF00"/>
                </a:highlight>
              </a:rPr>
              <a:t>hence (H</a:t>
            </a:r>
            <a:r>
              <a:rPr lang="en-US" sz="3200" baseline="-25000" dirty="0">
                <a:highlight>
                  <a:srgbClr val="FFFF00"/>
                </a:highlight>
              </a:rPr>
              <a:t>0</a:t>
            </a:r>
            <a:r>
              <a:rPr lang="en-US" sz="3200" dirty="0">
                <a:highlight>
                  <a:srgbClr val="FFFF00"/>
                </a:highlight>
              </a:rPr>
              <a:t>) is rejected. </a:t>
            </a:r>
          </a:p>
          <a:p>
            <a:pPr marL="0" indent="0" algn="just">
              <a:buNone/>
            </a:pPr>
            <a:r>
              <a:rPr lang="en-US" sz="3200" dirty="0">
                <a:highlight>
                  <a:srgbClr val="FFFF00"/>
                </a:highlight>
              </a:rPr>
              <a:t>This means there is sufficient statistical evidence at 5% significance level to conclude that the first-year class do not possess average IQs.</a:t>
            </a:r>
            <a:endParaRPr 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 algn="just">
              <a:buNone/>
            </a:pPr>
            <a:endParaRPr lang="en-US"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46CB34-EEF9-FD9E-8763-C3C51C4BB90B}"/>
                  </a:ext>
                </a:extLst>
              </p:cNvPr>
              <p:cNvSpPr txBox="1"/>
              <p:nvPr/>
            </p:nvSpPr>
            <p:spPr>
              <a:xfrm>
                <a:off x="304800" y="1905000"/>
                <a:ext cx="8210550" cy="1273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90000"/>
                  </a:lnSpc>
                  <a:spcBef>
                    <a:spcPts val="375"/>
                  </a:spcBef>
                  <a:defRPr/>
                </a:pPr>
                <a:r>
                  <a:rPr lang="en-US" sz="3600" dirty="0">
                    <a:solidFill>
                      <a:srgbClr val="C00000"/>
                    </a:solidFill>
                  </a:rPr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C0000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C00000"/>
                            </a:solidFill>
                          </a:rPr>
                          <m:t>̄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C00000"/>
                            </a:solidFill>
                          </a:rPr>
                          <m:t>μ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srgbClr val="C00000"/>
                                </a:solidFill>
                              </a:rPr>
                              <m:t>σ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117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srgbClr val="C00000"/>
                                </a:solidFill>
                              </a:rPr>
                              <m:t>27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srgbClr val="C00000"/>
                                </a:solidFill>
                              </a:rPr>
                              <m:t>27</m:t>
                            </m:r>
                          </m:num>
                          <m:den>
                            <m:r>
                              <a:rPr lang="en-US" sz="36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36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6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47</m:t>
                            </m:r>
                          </m:den>
                        </m:f>
                      </m:den>
                    </m:f>
                    <m:r>
                      <a:rPr lang="en-US" sz="3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92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= 3.44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46CB34-EEF9-FD9E-8763-C3C51C4BB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905000"/>
                <a:ext cx="8210550" cy="12736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8E097-D2D4-3725-2DD3-9CD6AFDA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4D23B8-45F4-799B-B6D9-7D47D5F18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C7E3F7-3F07-1E3C-96E8-9178C3182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9154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Solution 3.2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D58EB-685E-354F-1CDC-99C022C8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B07122-F49A-1343-D855-63AF23863AA9}"/>
                  </a:ext>
                </a:extLst>
              </p:cNvPr>
              <p:cNvSpPr txBox="1"/>
              <p:nvPr/>
            </p:nvSpPr>
            <p:spPr>
              <a:xfrm>
                <a:off x="1066800" y="2057400"/>
                <a:ext cx="7239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1: State the hypotheses</a:t>
                </a:r>
              </a:p>
              <a:p>
                <a:pPr>
                  <a:buNone/>
                </a:pPr>
                <a:r>
                  <a:rPr lang="en-IN" dirty="0"/>
                  <a:t>The claim is </a:t>
                </a:r>
                <a:r>
                  <a:rPr lang="en-IN" i="1" dirty="0"/>
                  <a:t>“higher-than-average IQs”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Right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tailed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test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b="1" dirty="0"/>
                  <a:t>Do all the steps from 1 to 5 (in the MST)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B07122-F49A-1343-D855-63AF23863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57400"/>
                <a:ext cx="7239000" cy="1754326"/>
              </a:xfrm>
              <a:prstGeom prst="rect">
                <a:avLst/>
              </a:prstGeom>
              <a:blipFill>
                <a:blip r:embed="rId2"/>
                <a:stretch>
                  <a:fillRect l="-673" t="-2091" b="-45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D37BE6-7FE6-9EB1-6C29-58E99439D7E6}"/>
                  </a:ext>
                </a:extLst>
              </p:cNvPr>
              <p:cNvSpPr txBox="1"/>
              <p:nvPr/>
            </p:nvSpPr>
            <p:spPr>
              <a:xfrm>
                <a:off x="1143000" y="4019729"/>
                <a:ext cx="4572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4: Decision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𝑐𝑎𝑙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𝑡𝑎𝑏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645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D37BE6-7FE6-9EB1-6C29-58E99439D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019729"/>
                <a:ext cx="4572000" cy="923330"/>
              </a:xfrm>
              <a:prstGeom prst="rect">
                <a:avLst/>
              </a:prstGeom>
              <a:blipFill>
                <a:blip r:embed="rId3"/>
                <a:stretch>
                  <a:fillRect l="-1200" t="-3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503EE5D-B2D5-F7C3-0B3F-473E71319C77}"/>
              </a:ext>
            </a:extLst>
          </p:cNvPr>
          <p:cNvSpPr txBox="1"/>
          <p:nvPr/>
        </p:nvSpPr>
        <p:spPr>
          <a:xfrm>
            <a:off x="1295400" y="5147965"/>
            <a:ext cx="746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is sufficient statistical evidence at the </a:t>
            </a:r>
            <a:r>
              <a:rPr lang="en-US" b="1" dirty="0"/>
              <a:t>5% level of significance</a:t>
            </a:r>
            <a:r>
              <a:rPr lang="en-US" dirty="0"/>
              <a:t> to conclude that </a:t>
            </a:r>
            <a:r>
              <a:rPr lang="en-US" b="1" dirty="0"/>
              <a:t>first-year students have significantly higher IQs than the population average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7300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400" b="1" dirty="0"/>
              <a:t>Hypothesis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manufacturer of a certain make of Thermometer claims that his thermometers have a mean life of 20 months. A random sample of 7 such thermometers gave the following values. Life of thermometers in months: 19, 21, 25, 16, 17, 14, 21. Can you regard the producer’s claim to be valid at 1% level of significance? Given that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t_tab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= 3.707.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47C6-0CB7-2DCD-392D-4386A37F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0274"/>
          </a:xfrm>
        </p:spPr>
        <p:txBody>
          <a:bodyPr/>
          <a:lstStyle/>
          <a:p>
            <a:r>
              <a:rPr lang="en-US" b="1" dirty="0"/>
              <a:t>Solution- 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B8DC51-FDE3-48BB-D026-0F2EE3BA8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226469"/>
                <a:ext cx="7886700" cy="34356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Mean of the sample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19 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21 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25 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16 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17 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14 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dirty="0"/>
                          <m:t>21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dirty="0"/>
                  <a:t> = 19</a:t>
                </a:r>
              </a:p>
              <a:p>
                <a:endParaRPr lang="en-US" dirty="0"/>
              </a:p>
              <a:p>
                <a:r>
                  <a:rPr lang="en-US" dirty="0"/>
                  <a:t>Standard Deviation (s)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3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3000" i="1" baseline="-250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3000" i="1" baseline="-2500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3000">
                                            <a:latin typeface="Cambria Math" panose="02040503050406030204" pitchFamily="18" charset="0"/>
                                          </a:rPr>
                                          <m:t>−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3000" dirty="0">
                                            <a:solidFill>
                                              <a:prstClr val="black"/>
                                            </a:solidFill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3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endParaRPr lang="en-US" sz="300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 =  3.69</a:t>
                </a:r>
              </a:p>
              <a:p>
                <a:r>
                  <a:rPr lang="en-US" sz="2400" dirty="0"/>
                  <a:t>Step-1</a:t>
                </a:r>
              </a:p>
              <a:p>
                <a:pPr lvl="1"/>
                <a:r>
                  <a:rPr lang="en-US" sz="2400" dirty="0"/>
                  <a:t>H_0=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Thermometers have a mean life of 20 months. </a:t>
                </a:r>
              </a:p>
              <a:p>
                <a:pPr lvl="1"/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H_a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= Thermometers don not have a mean life of 20 months. </a:t>
                </a:r>
                <a:endParaRPr lang="en-US" sz="2400" dirty="0"/>
              </a:p>
              <a:p>
                <a:pPr lvl="1"/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B8DC51-FDE3-48BB-D026-0F2EE3BA8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226469"/>
                <a:ext cx="7886700" cy="3435695"/>
              </a:xfr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970CBC-C6B6-9F23-C33A-A5E89C98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754DB-8C14-4A50-A02C-24A30BC0C394}" type="slidenum">
              <a:rPr lang="en-IN" smtClean="0"/>
              <a:t>73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D7119-C39D-C07D-D888-26C073352CEE}"/>
              </a:ext>
            </a:extLst>
          </p:cNvPr>
          <p:cNvSpPr txBox="1"/>
          <p:nvPr/>
        </p:nvSpPr>
        <p:spPr>
          <a:xfrm>
            <a:off x="762000" y="169068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19, 21, 25, 16, 17, 14, 21</a:t>
            </a:r>
            <a:endParaRPr lang="en-I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34F0BD-2174-2E66-6C25-7AC901A6EFB7}"/>
              </a:ext>
            </a:extLst>
          </p:cNvPr>
          <p:cNvGrpSpPr/>
          <p:nvPr/>
        </p:nvGrpSpPr>
        <p:grpSpPr>
          <a:xfrm>
            <a:off x="7320992" y="4093363"/>
            <a:ext cx="1946160" cy="2193480"/>
            <a:chOff x="7320992" y="4093363"/>
            <a:chExt cx="1946160" cy="21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217824-2336-37D6-18C9-6D46D685688A}"/>
                    </a:ext>
                  </a:extLst>
                </p14:cNvPr>
                <p14:cNvContentPartPr/>
                <p14:nvPr/>
              </p14:nvContentPartPr>
              <p14:xfrm>
                <a:off x="7536272" y="4504483"/>
                <a:ext cx="209160" cy="437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217824-2336-37D6-18C9-6D46D685688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18632" y="4486843"/>
                  <a:ext cx="2448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D65AED-F751-6BE3-24F9-EAAC1C5E054F}"/>
                    </a:ext>
                  </a:extLst>
                </p14:cNvPr>
                <p14:cNvContentPartPr/>
                <p14:nvPr/>
              </p14:nvContentPartPr>
              <p14:xfrm>
                <a:off x="7903832" y="4636963"/>
                <a:ext cx="276120" cy="6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D65AED-F751-6BE3-24F9-EAAC1C5E054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86192" y="4618963"/>
                  <a:ext cx="3117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AAE9FC5-1D42-A2E7-C22E-91D887FCEA95}"/>
                    </a:ext>
                  </a:extLst>
                </p14:cNvPr>
                <p14:cNvContentPartPr/>
                <p14:nvPr/>
              </p14:nvContentPartPr>
              <p14:xfrm>
                <a:off x="7916792" y="4793923"/>
                <a:ext cx="246240" cy="50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AAE9FC5-1D42-A2E7-C22E-91D887FCEA9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98792" y="4776283"/>
                  <a:ext cx="281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E80AC6-4CB0-5295-1C1A-E0912EAC796D}"/>
                    </a:ext>
                  </a:extLst>
                </p14:cNvPr>
                <p14:cNvContentPartPr/>
                <p14:nvPr/>
              </p14:nvContentPartPr>
              <p14:xfrm>
                <a:off x="8421152" y="4602763"/>
                <a:ext cx="304200" cy="246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E80AC6-4CB0-5295-1C1A-E0912EAC79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03152" y="4584763"/>
                  <a:ext cx="339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20DA00-77BC-5366-5AB0-4FEF6DF1A021}"/>
                    </a:ext>
                  </a:extLst>
                </p14:cNvPr>
                <p14:cNvContentPartPr/>
                <p14:nvPr/>
              </p14:nvContentPartPr>
              <p14:xfrm>
                <a:off x="8793032" y="4649203"/>
                <a:ext cx="227520" cy="203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20DA00-77BC-5366-5AB0-4FEF6DF1A0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75392" y="4631203"/>
                  <a:ext cx="263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CC6C69-17CA-8073-FF8D-B183FD4D2B60}"/>
                    </a:ext>
                  </a:extLst>
                </p14:cNvPr>
                <p14:cNvContentPartPr/>
                <p14:nvPr/>
              </p14:nvContentPartPr>
              <p14:xfrm>
                <a:off x="7571552" y="5461003"/>
                <a:ext cx="403920" cy="43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CC6C69-17CA-8073-FF8D-B183FD4D2B6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53552" y="5443003"/>
                  <a:ext cx="4395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E2728B-3481-19A6-6574-1311D4D1EDC7}"/>
                    </a:ext>
                  </a:extLst>
                </p14:cNvPr>
                <p14:cNvContentPartPr/>
                <p14:nvPr/>
              </p14:nvContentPartPr>
              <p14:xfrm>
                <a:off x="8110472" y="5537683"/>
                <a:ext cx="317160" cy="75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E2728B-3481-19A6-6574-1311D4D1ED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92472" y="5520043"/>
                  <a:ext cx="352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4330F9-0E9F-1FBF-ADB0-79BF45122EAD}"/>
                    </a:ext>
                  </a:extLst>
                </p14:cNvPr>
                <p14:cNvContentPartPr/>
                <p14:nvPr/>
              </p14:nvContentPartPr>
              <p14:xfrm>
                <a:off x="8130992" y="5684923"/>
                <a:ext cx="321120" cy="104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4330F9-0E9F-1FBF-ADB0-79BF45122E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13352" y="5667283"/>
                  <a:ext cx="356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9CB74F8-4650-14F8-5EBE-C0B43B8C439A}"/>
                    </a:ext>
                  </a:extLst>
                </p14:cNvPr>
                <p14:cNvContentPartPr/>
                <p14:nvPr/>
              </p14:nvContentPartPr>
              <p14:xfrm>
                <a:off x="8260592" y="5418163"/>
                <a:ext cx="45360" cy="445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9CB74F8-4650-14F8-5EBE-C0B43B8C439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42592" y="5400163"/>
                  <a:ext cx="810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F3D5F1-4462-2261-BBD9-11C5718D4C4F}"/>
                    </a:ext>
                  </a:extLst>
                </p14:cNvPr>
                <p14:cNvContentPartPr/>
                <p14:nvPr/>
              </p14:nvContentPartPr>
              <p14:xfrm>
                <a:off x="8598632" y="5473603"/>
                <a:ext cx="422280" cy="232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F3D5F1-4462-2261-BBD9-11C5718D4C4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80632" y="5455963"/>
                  <a:ext cx="457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2927A5E-E055-1D10-61D4-DE4483C1DD85}"/>
                    </a:ext>
                  </a:extLst>
                </p14:cNvPr>
                <p14:cNvContentPartPr/>
                <p14:nvPr/>
              </p14:nvContentPartPr>
              <p14:xfrm>
                <a:off x="7366712" y="4093363"/>
                <a:ext cx="255240" cy="997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2927A5E-E055-1D10-61D4-DE4483C1DD8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48712" y="4075363"/>
                  <a:ext cx="29088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1D2F3E-4D7B-4117-3E09-A7E694EC357E}"/>
                    </a:ext>
                  </a:extLst>
                </p14:cNvPr>
                <p14:cNvContentPartPr/>
                <p14:nvPr/>
              </p14:nvContentPartPr>
              <p14:xfrm>
                <a:off x="8793032" y="4267963"/>
                <a:ext cx="474120" cy="810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1D2F3E-4D7B-4117-3E09-A7E694EC357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75392" y="4249963"/>
                  <a:ext cx="50976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9A02FC-8DF1-BCAF-84EE-27CC6BA38BB8}"/>
                    </a:ext>
                  </a:extLst>
                </p14:cNvPr>
                <p14:cNvContentPartPr/>
                <p14:nvPr/>
              </p14:nvContentPartPr>
              <p14:xfrm>
                <a:off x="7320992" y="5416723"/>
                <a:ext cx="548280" cy="870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9A02FC-8DF1-BCAF-84EE-27CC6BA38BB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02992" y="5399083"/>
                  <a:ext cx="583920" cy="90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000CB4A-0D15-0C0E-208A-7F3F105C0F06}"/>
                    </a:ext>
                  </a:extLst>
                </p14:cNvPr>
                <p14:cNvContentPartPr/>
                <p14:nvPr/>
              </p14:nvContentPartPr>
              <p14:xfrm>
                <a:off x="8900312" y="5283163"/>
                <a:ext cx="257040" cy="934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000CB4A-0D15-0C0E-208A-7F3F105C0F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82672" y="5265163"/>
                  <a:ext cx="292680" cy="97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85356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6982" y="408272"/>
            <a:ext cx="6824573" cy="697706"/>
          </a:xfrm>
        </p:spPr>
        <p:txBody>
          <a:bodyPr>
            <a:normAutofit/>
          </a:bodyPr>
          <a:lstStyle/>
          <a:p>
            <a:r>
              <a:rPr lang="en-US" b="1" dirty="0"/>
              <a:t>Hypothesis Testing-Solution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72861" y="1828800"/>
                <a:ext cx="7213840" cy="394335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400" dirty="0"/>
                  <a:t>µ = 20, n=7, calculate x̄ which is the mean of  the sample using the data given in the question. </a:t>
                </a:r>
              </a:p>
              <a:p>
                <a:pPr algn="just"/>
                <a:r>
                  <a:rPr lang="en-US" sz="2400" dirty="0"/>
                  <a:t>Then put all the values in the below equation: </a:t>
                </a:r>
              </a:p>
              <a:p>
                <a:pPr algn="just"/>
                <a:endParaRPr lang="en-US" sz="2400" dirty="0"/>
              </a:p>
              <a:p>
                <a:pPr algn="just"/>
                <a:r>
                  <a:rPr lang="en-US" sz="3600" dirty="0">
                    <a:solidFill>
                      <a:prstClr val="black"/>
                    </a:solidFill>
                  </a:rPr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̄</m:t>
                        </m:r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μ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19</m:t>
                        </m:r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20</m:t>
                        </m:r>
                      </m:num>
                      <m:den>
                        <m:f>
                          <m:f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3.69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3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33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3.69</m:t>
                            </m:r>
                          </m:num>
                          <m:den>
                            <m:r>
                              <a:rPr lang="en-US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US" sz="3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= -0.71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algn="just"/>
                <a:r>
                  <a:rPr lang="en-US" sz="2400" dirty="0" err="1"/>
                  <a:t>t</a:t>
                </a:r>
                <a:r>
                  <a:rPr lang="en-US" sz="2400" baseline="-25000" dirty="0" err="1"/>
                  <a:t>cal</a:t>
                </a:r>
                <a:r>
                  <a:rPr lang="en-US" sz="2400" baseline="-25000" dirty="0"/>
                  <a:t> </a:t>
                </a:r>
                <a:r>
                  <a:rPr lang="en-US" sz="2400" dirty="0"/>
                  <a:t>= -0.7     and </a:t>
                </a:r>
                <a:r>
                  <a:rPr lang="en-US" sz="2400" dirty="0" err="1"/>
                  <a:t>t</a:t>
                </a:r>
                <a:r>
                  <a:rPr lang="en-US" sz="2400" baseline="-25000" dirty="0" err="1"/>
                  <a:t>tab</a:t>
                </a:r>
                <a:r>
                  <a:rPr lang="en-US" sz="2400" dirty="0"/>
                  <a:t>= 3.707</a:t>
                </a:r>
              </a:p>
              <a:p>
                <a:pPr algn="just"/>
                <a:r>
                  <a:rPr lang="en-US" sz="2400" dirty="0"/>
                  <a:t>H</a:t>
                </a:r>
                <a:r>
                  <a:rPr lang="en-US" sz="2400" baseline="-25000" dirty="0"/>
                  <a:t>0</a:t>
                </a:r>
                <a:r>
                  <a:rPr lang="en-US" sz="2400" dirty="0"/>
                  <a:t> is accepted (|</a:t>
                </a:r>
                <a:r>
                  <a:rPr lang="en-US" sz="2400" dirty="0" err="1"/>
                  <a:t>t</a:t>
                </a:r>
                <a:r>
                  <a:rPr lang="en-US" sz="2400" baseline="-25000" dirty="0" err="1"/>
                  <a:t>cal</a:t>
                </a:r>
                <a:r>
                  <a:rPr lang="en-US" sz="2400" baseline="-25000" dirty="0"/>
                  <a:t> </a:t>
                </a:r>
                <a:r>
                  <a:rPr lang="en-US" sz="2400" dirty="0"/>
                  <a:t>| &lt; </a:t>
                </a:r>
                <a:r>
                  <a:rPr lang="en-US" sz="2400" dirty="0" err="1"/>
                  <a:t>t</a:t>
                </a:r>
                <a:r>
                  <a:rPr lang="en-US" sz="2400" baseline="-25000" dirty="0" err="1"/>
                  <a:t>tab</a:t>
                </a:r>
                <a:r>
                  <a:rPr lang="en-US" sz="2400" dirty="0"/>
                  <a:t>)</a:t>
                </a:r>
              </a:p>
              <a:p>
                <a:pPr algn="just"/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861" y="1828800"/>
                <a:ext cx="7213840" cy="3943350"/>
              </a:xfrm>
              <a:blipFill>
                <a:blip r:embed="rId2"/>
                <a:stretch>
                  <a:fillRect l="-2280" t="-2937" r="-23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5DB9C-A6CE-05B7-7032-20EA96E35467}"/>
              </a:ext>
            </a:extLst>
          </p:cNvPr>
          <p:cNvSpPr txBox="1"/>
          <p:nvPr/>
        </p:nvSpPr>
        <p:spPr>
          <a:xfrm>
            <a:off x="762000" y="5615583"/>
            <a:ext cx="7753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This means there is sufficient statistical evidence at 1% significance level to conclude that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thermometers have a mean life of 20 months.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14969</TotalTime>
  <Words>4847</Words>
  <Application>Microsoft Office PowerPoint</Application>
  <PresentationFormat>On-screen Show (4:3)</PresentationFormat>
  <Paragraphs>520</Paragraphs>
  <Slides>74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2" baseType="lpstr">
      <vt:lpstr>Arial</vt:lpstr>
      <vt:lpstr>Calibri</vt:lpstr>
      <vt:lpstr>Calibri Light</vt:lpstr>
      <vt:lpstr>Cambria Math</vt:lpstr>
      <vt:lpstr>Nunito</vt:lpstr>
      <vt:lpstr>Times New Roman</vt:lpstr>
      <vt:lpstr>Wingdings</vt:lpstr>
      <vt:lpstr>Office Theme</vt:lpstr>
      <vt:lpstr>Parameter-Estimation   and  Hypothesis-Testing</vt:lpstr>
      <vt:lpstr>Parameter Estimation</vt:lpstr>
      <vt:lpstr>Parameter Estimation </vt:lpstr>
      <vt:lpstr>Parameters of Different Distributions</vt:lpstr>
      <vt:lpstr>Parameter Estimations Techniques</vt:lpstr>
      <vt:lpstr>Sample moments</vt:lpstr>
      <vt:lpstr>Population moments</vt:lpstr>
      <vt:lpstr>Method of Moments</vt:lpstr>
      <vt:lpstr>Method of Moments</vt:lpstr>
      <vt:lpstr>Method of Moments</vt:lpstr>
      <vt:lpstr>Method of Moments</vt:lpstr>
      <vt:lpstr>Method of Moments</vt:lpstr>
      <vt:lpstr>Method of Moments</vt:lpstr>
      <vt:lpstr>Method of Moments</vt:lpstr>
      <vt:lpstr>Method of Moments</vt:lpstr>
      <vt:lpstr>Method of Moments</vt:lpstr>
      <vt:lpstr>Method of Moments</vt:lpstr>
      <vt:lpstr>Maximum Likelihood Estimation</vt:lpstr>
      <vt:lpstr>Maximum Likelihood Estimation</vt:lpstr>
      <vt:lpstr>Maximum Likelihood Estimation</vt:lpstr>
      <vt:lpstr>Maximum Likelihood Estimation</vt:lpstr>
      <vt:lpstr>Maximum Likelihood Estimation</vt:lpstr>
      <vt:lpstr>Maximum Likelihood Estimation</vt:lpstr>
      <vt:lpstr>Maximum Likelihood Estimation </vt:lpstr>
      <vt:lpstr>Maximum Likelihood Estimation </vt:lpstr>
      <vt:lpstr>Maximum Likelihood Estimation </vt:lpstr>
      <vt:lpstr>Maximum Likelihood (ML) Estimation</vt:lpstr>
      <vt:lpstr>Maximum Likelihood Estimation </vt:lpstr>
      <vt:lpstr>Maximum Likelihood Estimation </vt:lpstr>
      <vt:lpstr>Minimum Mean Square Error (MMSE) Estimation </vt:lpstr>
      <vt:lpstr>Minimum Mean Square Error Estimation </vt:lpstr>
      <vt:lpstr>Procedure to Solve MMSE  </vt:lpstr>
      <vt:lpstr>Minimum Mean Square Error Estimation </vt:lpstr>
      <vt:lpstr>Minimum Mean Square Error Estimation </vt:lpstr>
      <vt:lpstr>Minimum Mean Square Error Estimation </vt:lpstr>
      <vt:lpstr>PowerPoint Presentation</vt:lpstr>
      <vt:lpstr>Hypothesis Testing</vt:lpstr>
      <vt:lpstr>Hypothesis Testing</vt:lpstr>
      <vt:lpstr>Types of Hypothesis</vt:lpstr>
      <vt:lpstr>Null Hypothesis</vt:lpstr>
      <vt:lpstr>Alternative Hypothesis</vt:lpstr>
      <vt:lpstr>Alternative Hypothesis</vt:lpstr>
      <vt:lpstr>Decision Errors in Hypothesis Testing</vt:lpstr>
      <vt:lpstr>Decision Errors in Hypothesis Testing</vt:lpstr>
      <vt:lpstr>Decision Errors in Hypothesis Testing</vt:lpstr>
      <vt:lpstr>Decision Errors in Hypothesis Testing</vt:lpstr>
      <vt:lpstr>Type-1 and Type-2 Error</vt:lpstr>
      <vt:lpstr>Factors Affecting Type I and Type II Error</vt:lpstr>
      <vt:lpstr>Level of Significance</vt:lpstr>
      <vt:lpstr>Hypothesis Testing</vt:lpstr>
      <vt:lpstr>One-Tailed Test</vt:lpstr>
      <vt:lpstr>One-Tailed Test</vt:lpstr>
      <vt:lpstr>Hypothesis Testing</vt:lpstr>
      <vt:lpstr>Two-Tailed Test</vt:lpstr>
      <vt:lpstr>Two-Tailed Test</vt:lpstr>
      <vt:lpstr>Steps in Hypothesis Testing</vt:lpstr>
      <vt:lpstr>Steps in Hypothesis Testing</vt:lpstr>
      <vt:lpstr>Steps in Hypothesis Testing</vt:lpstr>
      <vt:lpstr>Steps in Hypothesis Testing</vt:lpstr>
      <vt:lpstr>Z-test vs t-test Assumptions </vt:lpstr>
      <vt:lpstr>Hypothesis Testing</vt:lpstr>
      <vt:lpstr>Hypothesis Testing</vt:lpstr>
      <vt:lpstr>Hypothesis Testing</vt:lpstr>
      <vt:lpstr>Hypothesis Testing</vt:lpstr>
      <vt:lpstr>Hypothesis Testing</vt:lpstr>
      <vt:lpstr>Hypothesis Testing</vt:lpstr>
      <vt:lpstr>Hypothesis Testing</vt:lpstr>
      <vt:lpstr>Hypothesis Testing</vt:lpstr>
      <vt:lpstr>Hypothesis Testing- Question-Solution 3.1</vt:lpstr>
      <vt:lpstr>Hypothesis Testing</vt:lpstr>
      <vt:lpstr>Hypothesis Testing</vt:lpstr>
      <vt:lpstr>Hypothesis Testing</vt:lpstr>
      <vt:lpstr>Solution- (Two Tailed Test)</vt:lpstr>
      <vt:lpstr>Hypothesis Testing-Solution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ANALYTICS USING STATISTICS </dc:title>
  <dc:creator>Anjula Mehto</dc:creator>
  <cp:lastModifiedBy>Anjula Mehto</cp:lastModifiedBy>
  <cp:revision>631</cp:revision>
  <dcterms:created xsi:type="dcterms:W3CDTF">2006-08-16T00:00:00Z</dcterms:created>
  <dcterms:modified xsi:type="dcterms:W3CDTF">2026-02-19T09:42:11Z</dcterms:modified>
</cp:coreProperties>
</file>